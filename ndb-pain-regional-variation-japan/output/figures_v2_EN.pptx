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3A5C"/>
                </a:solidFill>
              </a:defRPr>
            </a:pPr>
            <a:r>
              <a:t>“Japanese Patient”? — A Patient.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Regional Heterogeneity in Pain-Related Prescribing</a:t>
            </a:r>
            <a:br/>
            <a:r>
              <a:t>Across Japan’s 47 Prefectures Challenges the Stereotype of a Stoic Monolith</a:t>
            </a:r>
            <a:br/>
            <a:br/>
            <a:r>
              <a:t>An Integrated Ecological Study Using the NDB Open Data</a:t>
            </a:r>
            <a:br/>
            <a:r>
              <a:t>Phase 1: Acute Pain  |  Phase 2: Chronic Postsurgical Pain (CPSP)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Study Design: Data Sources and Analytical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7315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NDB Open Data 10th Ed.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(Apr 2023 - Mar 2024)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00400" cy="64008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Inpatient analgesic prescriptions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(Classes 114, 811, 821)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2004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Outpatient neuropathic pain drugs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(PGB, MGB, DLX, TRM, NTP)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2743200" cy="64008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Inpatient surgery counts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(K Surgery section)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200400" cy="82296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Confounder proxies (outpatient):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Diabetes drugs | Herpes antivirals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Antidepressants | Anxiolytics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3200400" cy="73152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1: Acute Pain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Analgesic qty / Surgery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297680"/>
            <a:ext cx="3200400" cy="73152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2: CPSP Proxy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Neuropathic drugs / Surgery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97680"/>
            <a:ext cx="2743200" cy="73152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Adjusted CPSP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(Residuals after confounders)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486400"/>
            <a:ext cx="59436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Integration: Acute pain vs Chronic pain correlation | Regional ranking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14600" y="164592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72200" y="1645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164592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72200" y="27432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146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72200" y="2743200"/>
            <a:ext cx="0" cy="15544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3931920"/>
            <a:ext cx="342900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4600" y="5029200"/>
            <a:ext cx="36576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502920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172200" y="5029200"/>
            <a:ext cx="34290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Table 1. Phase 1: Inpatient Analgesic-per-Surgery Index by Regional Block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058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286000"/>
                <a:gridCol w="27432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Regional Block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Mean (SD)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Tokai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27.62 (2.18)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25.20–30.07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Kinki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30.02 (2.03)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27.92–32.33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Kanto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33.00 (2.09)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29.82–34.78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Hokuriku-Koshinetsu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35.38 (3.54)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31.18–40.08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Chugoku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35.73 (4.18)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31.01–40.17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Shikoku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36.33 (3.27)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33.49–41.02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Tohoku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39.97 (3.53)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35.18–44.51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Kyushu-Okinawa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42.26 (4.33)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35.82–49.75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Hokkaido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 (—)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35.78 (5.56)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25.20–49.75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1. Outpatient Neuropathic Pain Drug Prescribing per Surgery by Prefecture (Unadjusted)</a:t>
            </a:r>
          </a:p>
        </p:txBody>
      </p:sp>
      <p:pic>
        <p:nvPicPr>
          <p:cNvPr id="3" name="Picture 2" descr="fig1_neuropathic_unadju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564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Bars = total neuropathic Rx (PGB+MGB+DLX+TRM+NTP) / inpatient surgeries. Tohoku (red borders) clusters at the high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2. Correlation Between Neuropathic Pain Prescribing and Confounder Disease Proxies</a:t>
            </a:r>
          </a:p>
        </p:txBody>
      </p:sp>
      <p:pic>
        <p:nvPicPr>
          <p:cNvPr id="3" name="Picture 2" descr="fig2_confounder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12" y="914400"/>
            <a:ext cx="5894528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Each dot = 1 prefecture. Tohoku = red borders. Diabetes drugs show strongest correlation (r=0.87).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3. Confounder-Adjusted CPSP Index by Prefecture</a:t>
            </a:r>
          </a:p>
        </p:txBody>
      </p:sp>
      <p:pic>
        <p:nvPicPr>
          <p:cNvPr id="3" name="Picture 2" descr="fig3_adjusted_cpsp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458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Residuals after regressing neuropathic Rx on diabetes, herpes, antidepressant, anxiolytic proxies. Tohoku disperses after adjustment.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4. Regional Comparison: Unadjusted (A) vs Confounder-Adjusted (B)</a:t>
            </a:r>
          </a:p>
        </p:txBody>
      </p:sp>
      <p:pic>
        <p:nvPicPr>
          <p:cNvPr id="3" name="Picture 2" descr="fig4_region_unadj_vs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96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Tohoku (red border) shifts from highest region to mid-range after adjustment. Error bars = 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Table 2. Regression Models: Effect of Confounder Adjustment on Regional Patterns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Dependent Variable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Tohoku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 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(unadjusted)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2.81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7.4e-08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Significant ***</a:t>
                      </a:r>
                    </a:p>
                  </a:txBody>
                  <a:tcPr>
                    <a:solidFill>
                      <a:srgbClr val="FFDDD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 (all confounders)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 (core drugs)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PGB+MGB/surgery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15.7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 (nerve blocks)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Blocks/surgery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 (integrated)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Neuropathic/surgery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β = 31.5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Adj. CPSP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 = 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5. Phase 1 (Acute Pain) vs Phase 2 (CPSP Proxy) Integration</a:t>
            </a:r>
          </a:p>
        </p:txBody>
      </p:sp>
      <p:pic>
        <p:nvPicPr>
          <p:cNvPr id="3" name="Picture 2" descr="fig5_phase1_vs_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5120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(A) Unadjusted: r=0.38, P=0.008.  (B) Confounder-adjusted: r=0.29, P=0.052. Tohoku = red borders.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Figure 6. Summary: Regional Effect Across All Models</a:t>
            </a:r>
          </a:p>
        </p:txBody>
      </p:sp>
      <p:pic>
        <p:nvPicPr>
          <p:cNvPr id="3" name="Picture 2" descr="fig6_model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14400"/>
            <a:ext cx="11430000" cy="4648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Model 1 (unadjusted) shows highly significant excess; all adjusted models show non-significant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Supplementary Figure 1. Z-Score Heatmap of All Indices by Prefecture</a:t>
            </a:r>
          </a:p>
        </p:txBody>
      </p:sp>
      <p:pic>
        <p:nvPicPr>
          <p:cNvPr id="3" name="Picture 2" descr="sfig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95" y="914400"/>
            <a:ext cx="5797562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093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Each row = variable; each column = prefecture (sorted by neuropathic Rx). Red = above average; blue = below average.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Key Findings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914400"/>
            <a:ext cx="5943600" cy="640080"/>
          </a:xfrm>
          <a:prstGeom prst="round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111111"/>
                </a:solidFill>
              </a:defRPr>
            </a:pPr>
            <a:r>
              <a:t>Premise: Japanese are culturally stoic toward pain (Hobara 2005, Feng 2017)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Question: Is there regional variation WITHIN Japan?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572000" cy="8229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1: Acute perioperative analgesics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1.97-fold variation across 47 prefectures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(Kruskal-Wallis P &lt; 0.001)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029200" cy="82296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Phase 2 (unadjusted): Neuropathic pain drugs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Dramatic regional variation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But confounders not controlled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91840"/>
            <a:ext cx="5029200" cy="64008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Confounder adjustment: Diabetes (r=0.87) + Herpes + Depression + Anxiety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85800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Phase 2 (adjusted): Regional patterns change dramatically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Confounding diseases explain much of apparent variation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9601200" cy="73152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Conclusion: Japan’s pain culture is NOT monolithic → No cultural label can substitute for individualized assessment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Cultural stereotypes narrow treatment options for ALL patients, not just Japanese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1554480"/>
            <a:ext cx="29718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155448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172200" y="2834640"/>
            <a:ext cx="274320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72200" y="3931920"/>
            <a:ext cx="0" cy="457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834640"/>
            <a:ext cx="2971800" cy="27432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521208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Confounder Adjustment Framework ("Noise Dilution")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64008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FFFFFF"/>
                </a:solidFill>
              </a:defRPr>
            </a:pPr>
            <a:r>
              <a:t>Outpatient neuropathic pain drug Rx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(pregabalin, mirogabalin, duloxetine, tramadol, neurotropin)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73152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CPSP signal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(target)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Diabetic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neuropathy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286000"/>
            <a:ext cx="201168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Postherpetic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neuralgia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Depression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(off-label)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2286000"/>
            <a:ext cx="1828800" cy="73152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111111"/>
                </a:solidFill>
              </a:defRPr>
            </a:pPr>
            <a:r>
              <a:t>Anxiety</a:t>
            </a:r>
          </a:p>
          <a:p>
            <a:pPr algn="ctr">
              <a:defRPr sz="1200">
                <a:solidFill>
                  <a:srgbClr val="111111"/>
                </a:solidFill>
              </a:defRPr>
            </a:pPr>
            <a:r>
              <a:t>(off-label)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Oral hypoglycaemics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(261 formulations)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657600"/>
            <a:ext cx="201168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Herpes antivirals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(47 formulations)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Antidepressants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(128 formulations)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3657600"/>
            <a:ext cx="1828800" cy="640080"/>
          </a:xfrm>
          <a:prstGeom prst="roundRect">
            <a:avLst/>
          </a:prstGeom>
          <a:solidFill>
            <a:srgbClr val="EBCB8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>
                <a:solidFill>
                  <a:srgbClr val="111111"/>
                </a:solidFill>
              </a:defRPr>
            </a:pPr>
            <a:r>
              <a:t>Anxiolytics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(112 formulations)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846320"/>
            <a:ext cx="6858000" cy="64008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OLS Regression: Neuropathic Rx = β₀ + β₁·Diabetes + β₂·Herpes + β₃·Antidep + β₄·Anxiolytic + 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852160"/>
            <a:ext cx="5029200" cy="64008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>
                <a:solidFill>
                  <a:srgbClr val="FFFFFF"/>
                </a:solidFill>
              </a:defRPr>
            </a:pPr>
            <a:r>
              <a:t>Residuals (ε) = Adjusted CPSP Index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"Unexplained" neuropathic pain after removing confounders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28800" y="1554480"/>
            <a:ext cx="434340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0560" y="1554480"/>
            <a:ext cx="16916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172200" y="1554480"/>
            <a:ext cx="59436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172200" y="1554480"/>
            <a:ext cx="278892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172200" y="1554480"/>
            <a:ext cx="489204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64240" y="3017520"/>
            <a:ext cx="0" cy="6400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80560" y="4297680"/>
            <a:ext cx="16916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72200" y="4297680"/>
            <a:ext cx="5943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4297680"/>
            <a:ext cx="278892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72200" y="4297680"/>
            <a:ext cx="489204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72200" y="548640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