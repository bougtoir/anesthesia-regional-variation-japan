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B3A5C"/>
                </a:solidFill>
              </a:defRPr>
            </a:pPr>
            <a:r>
              <a:t>Regional Variation in Perioperative and Chronic</a:t>
            </a:r>
            <a:br/>
            <a:r>
              <a:t>Pain-Related Prescribing Across Japan</a:t>
            </a:r>
          </a:p>
          <a:p>
            <a:pPr algn="ctr">
              <a:defRPr sz="1800">
                <a:solidFill>
                  <a:srgbClr val="555555"/>
                </a:solidFill>
              </a:defRPr>
            </a:pPr>
            <a:r>
              <a:t>An Integrated Ecological Study Using the NDB Open Data</a:t>
            </a:r>
            <a:br/>
            <a:r>
              <a:t>Phase 1: Acute Pain  |  Phase 2: Chronic Postsurgical Pain (CPSP)</a:t>
            </a:r>
          </a:p>
        </p:txBody>
        <a:spPr>
          <a:noFill/>
          <a:ln>
            <a:noFill/>
          </a:ln>
        </a:spPr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3A5C"/>
                </a:solidFill>
              </a:defRPr>
            </a:pPr>
            <a:r>
              <a:t>Study Design: Data Sources and Analytical Framework</a:t>
            </a:r>
          </a:p>
        </p:txBody>
        <a:spPr>
          <a:noFill/>
          <a:ln>
            <a:noFill/>
          </a:ln>
        </a:spPr>
      </p:sp>
      <p:sp>
        <p:nvSpPr>
          <p:cNvPr id="3" name="Rounded Rectangle 2"/>
          <p:cNvSpPr/>
          <p:nvPr/>
        </p:nvSpPr>
        <p:spPr>
          <a:xfrm>
            <a:off x="4114800" y="914400"/>
            <a:ext cx="4114800" cy="73152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300">
                <a:solidFill>
                  <a:srgbClr val="FFFFFF"/>
                </a:solidFill>
              </a:defRPr>
            </a:pPr>
            <a:r>
              <a:t>NDB Open Data 10th Ed.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(Apr 2023 - Mar 2024)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3200400" cy="64008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FFFFFF"/>
                </a:solidFill>
              </a:defRPr>
            </a:pPr>
            <a:r>
              <a:t>Inpatient analgesic prescriptions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(Classes 114, 811, 821)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103120"/>
            <a:ext cx="3200400" cy="640080"/>
          </a:xfrm>
          <a:prstGeom prst="roundRect">
            <a:avLst/>
          </a:prstGeom>
          <a:solidFill>
            <a:srgbClr val="C0392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FFFFFF"/>
                </a:solidFill>
              </a:defRPr>
            </a:pPr>
            <a:r>
              <a:t>Outpatient neuropathic pain drugs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(PGB, MGB, DLX, TRM, NTP)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103120"/>
            <a:ext cx="2743200" cy="64008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FFFFFF"/>
                </a:solidFill>
              </a:defRPr>
            </a:pPr>
            <a:r>
              <a:t>Inpatient surgery counts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(K Surgery section)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108960"/>
            <a:ext cx="3200400" cy="822960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>
                <a:solidFill>
                  <a:srgbClr val="111111"/>
                </a:solidFill>
              </a:defRPr>
            </a:pPr>
            <a:r>
              <a:t>Confounder proxies (outpatient):</a:t>
            </a:r>
          </a:p>
          <a:p>
            <a:pPr algn="ctr">
              <a:defRPr sz="1000">
                <a:solidFill>
                  <a:srgbClr val="111111"/>
                </a:solidFill>
              </a:defRPr>
            </a:pPr>
            <a:r>
              <a:t>Diabetes drugs | Herpes antivirals</a:t>
            </a:r>
          </a:p>
          <a:p>
            <a:pPr algn="ctr">
              <a:defRPr sz="1000">
                <a:solidFill>
                  <a:srgbClr val="111111"/>
                </a:solidFill>
              </a:defRPr>
            </a:pPr>
            <a:r>
              <a:t>Antidepressants | Anxiolytics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297680"/>
            <a:ext cx="3200400" cy="73152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>
                <a:solidFill>
                  <a:srgbClr val="FFFFFF"/>
                </a:solidFill>
              </a:defRPr>
            </a:pPr>
            <a:r>
              <a:t>Phase 1: Acute Pain Index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Analgesic qty / Surgery count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4297680"/>
            <a:ext cx="3200400" cy="731520"/>
          </a:xfrm>
          <a:prstGeom prst="roundRect">
            <a:avLst/>
          </a:prstGeom>
          <a:solidFill>
            <a:srgbClr val="C0392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>
                <a:solidFill>
                  <a:srgbClr val="FFFFFF"/>
                </a:solidFill>
              </a:defRPr>
            </a:pPr>
            <a:r>
              <a:t>Phase 2: CPSP Proxy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Neuropathic drugs / Surgery 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4297680"/>
            <a:ext cx="2743200" cy="731520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>
                <a:solidFill>
                  <a:srgbClr val="FFFFFF"/>
                </a:solidFill>
              </a:defRPr>
            </a:pPr>
            <a:r>
              <a:t>Adjusted CPSP Index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(Residuals after confounders)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5486400"/>
            <a:ext cx="5943600" cy="64008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>
                <a:solidFill>
                  <a:srgbClr val="FFFFFF"/>
                </a:solidFill>
              </a:defRPr>
            </a:pPr>
            <a:r>
              <a:t>Integration: Acute pain vs Chronic pain correlation | Tohoku comparison | Regional ranking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514600" y="1645920"/>
            <a:ext cx="3657600" cy="4572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172200" y="1645920"/>
            <a:ext cx="0" cy="4572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172200" y="1645920"/>
            <a:ext cx="3429000" cy="4572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172200" y="2743200"/>
            <a:ext cx="0" cy="36576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514600" y="2743200"/>
            <a:ext cx="0" cy="155448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172200" y="2743200"/>
            <a:ext cx="0" cy="155448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3931920"/>
            <a:ext cx="3429000" cy="36576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514600" y="5029200"/>
            <a:ext cx="3657600" cy="4572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172200" y="5029200"/>
            <a:ext cx="0" cy="4572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172200" y="5029200"/>
            <a:ext cx="3429000" cy="4572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3A5C"/>
                </a:solidFill>
              </a:defRPr>
            </a:pPr>
            <a:r>
              <a:t>Table 1. Phase 1: Inpatient Analgesic-per-Surgery Index by Regional Block</a:t>
            </a:r>
          </a:p>
        </p:txBody>
        <a:spPr>
          <a:noFill/>
          <a:ln>
            <a:noFill/>
          </a:ln>
        </a:spPr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00584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914400"/>
                <a:gridCol w="2286000"/>
                <a:gridCol w="27432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Regional Block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Mean (SD)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Range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Tokai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27.62 (2.18)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25.20–30.07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Kinki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30.02 (2.03)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27.92–32.33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Kanto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33.00 (2.09)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29.82–34.78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Hokuriku-Koshinetsu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35.38 (3.54)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31.18–40.08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Chugoku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35.73 (4.18)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31.01–40.17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Shikoku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36.33 (3.27)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33.49–41.02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Tohoku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39.97 (3.53)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35.18–44.51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Kyushu-Okinawa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42.26 (4.33)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35.82–49.75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Hokkaido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46.12 (—)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46.12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35.78 (5.56)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25.20–49.75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</a:defRPr>
            </a:pPr>
            <a:r>
              <a:t>Figure 1. Outpatient Neuropathic Pain Drug Prescribing per Surgery by Prefecture (Unadjusted)</a:t>
            </a:r>
          </a:p>
        </p:txBody>
        <a:spPr>
          <a:noFill/>
          <a:ln>
            <a:noFill/>
          </a:ln>
        </a:spPr>
      </p:sp>
      <p:sp>
        <p:nvSpPr>
          <p:cNvPr id="4" name="TextBox 3"/>
          <p:cNvSpPr txBox="1"/>
          <p:nvPr/>
        </p:nvSpPr>
        <p:spPr>
          <a:xfrm>
            <a:off x="274320" y="630936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66666"/>
                </a:solidFill>
              </a:defRPr>
            </a:pPr>
            <a:r>
              <a:t>Bars = total neuropathic Rx (PGB+MGB+DLX+TRM+NTP) / inpatient surgeries. Tohoku (red borders) clusters at the high end.</a:t>
            </a:r>
          </a:p>
        </p:txBody>
        <a:spPr>
          <a:noFill/>
          <a:ln>
            <a:noFill/>
          </a:ln>
        </a:spPr>
      </p:sp>
      <p:pic>
        <p:nvPicPr>
          <p:cNvPr id="3" name="Picture 2" descr="fig1_neuropathic_unadjus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" y="914400"/>
            <a:ext cx="11430000" cy="49564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</a:defRPr>
            </a:pPr>
            <a:r>
              <a:t>Figure 2. Correlation Between Neuropathic Pain Prescribing and Confounder Disease Proxies</a:t>
            </a:r>
          </a:p>
        </p:txBody>
        <a:spPr>
          <a:noFill/>
          <a:ln>
            <a:noFill/>
          </a:ln>
        </a:spPr>
      </p:sp>
      <p:sp>
        <p:nvSpPr>
          <p:cNvPr id="4" name="TextBox 3"/>
          <p:cNvSpPr txBox="1"/>
          <p:nvPr/>
        </p:nvSpPr>
        <p:spPr>
          <a:xfrm>
            <a:off x="274320" y="630936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66666"/>
                </a:solidFill>
              </a:defRPr>
            </a:pPr>
            <a:r>
              <a:t>Each dot = 1 prefecture. Tohoku = red borders. Diabetes drugs show strongest correlation (r=0.87).</a:t>
            </a:r>
          </a:p>
        </p:txBody>
        <a:spPr>
          <a:noFill/>
          <a:ln>
            <a:noFill/>
          </a:ln>
        </a:spPr>
      </p:sp>
      <p:pic>
        <p:nvPicPr>
          <p:cNvPr id="3" name="Picture 2" descr="fig2_confounder_corre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212" y="914400"/>
            <a:ext cx="5894528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</a:defRPr>
            </a:pPr>
            <a:r>
              <a:t>Figure 3. Confounder-Adjusted CPSP Index by Prefecture</a:t>
            </a:r>
          </a:p>
        </p:txBody>
        <a:spPr>
          <a:noFill/>
          <a:ln>
            <a:noFill/>
          </a:ln>
        </a:spPr>
      </p:sp>
      <p:sp>
        <p:nvSpPr>
          <p:cNvPr id="4" name="TextBox 3"/>
          <p:cNvSpPr txBox="1"/>
          <p:nvPr/>
        </p:nvSpPr>
        <p:spPr>
          <a:xfrm>
            <a:off x="274320" y="630936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66666"/>
                </a:solidFill>
              </a:defRPr>
            </a:pPr>
            <a:r>
              <a:t>Residuals after regressing neuropathic Rx on diabetes, herpes, antidepressant, anxiolytic proxies. Tohoku disperses after adjustment.</a:t>
            </a:r>
          </a:p>
        </p:txBody>
        <a:spPr>
          <a:noFill/>
          <a:ln>
            <a:noFill/>
          </a:ln>
        </a:spPr>
      </p:sp>
      <p:pic>
        <p:nvPicPr>
          <p:cNvPr id="3" name="Picture 2" descr="fig3_adjusted_cpsp_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" y="914400"/>
            <a:ext cx="11430000" cy="49458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</a:defRPr>
            </a:pPr>
            <a:r>
              <a:t>Figure 4. Regional Comparison: Unadjusted (A) vs Confounder-Adjusted (B)</a:t>
            </a:r>
          </a:p>
        </p:txBody>
        <a:spPr>
          <a:noFill/>
          <a:ln>
            <a:noFill/>
          </a:ln>
        </a:spPr>
      </p:sp>
      <p:sp>
        <p:nvSpPr>
          <p:cNvPr id="4" name="TextBox 3"/>
          <p:cNvSpPr txBox="1"/>
          <p:nvPr/>
        </p:nvSpPr>
        <p:spPr>
          <a:xfrm>
            <a:off x="274320" y="630936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66666"/>
                </a:solidFill>
              </a:defRPr>
            </a:pPr>
            <a:r>
              <a:t>Tohoku (red border) shifts from highest region to mid-range after adjustment. Error bars = SD.</a:t>
            </a:r>
          </a:p>
        </p:txBody>
        <a:spPr>
          <a:noFill/>
          <a:ln>
            <a:noFill/>
          </a:ln>
        </a:spPr>
      </p:sp>
      <p:pic>
        <p:nvPicPr>
          <p:cNvPr id="3" name="Picture 2" descr="fig4_region_unadj_vs_ad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" y="914400"/>
            <a:ext cx="11430000" cy="49612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3A5C"/>
                </a:solidFill>
              </a:defRPr>
            </a:pPr>
            <a:r>
              <a:t>Table 2. Regression Models: Tohoku Effect Before and After Confounder Adjustment</a:t>
            </a:r>
          </a:p>
        </p:txBody>
        <a:spPr>
          <a:noFill/>
          <a:ln>
            <a:noFill/>
          </a:ln>
        </a:spPr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0515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137160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Dependent Variable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Tohoku Effect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 value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 (unadjusted)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Neuropathic/surgery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 = 2.07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7.4e-08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Significant ***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 (all confounders)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Neuropathic/surgery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β = 32.6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Not significant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 (core drugs)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PGB+MGB/surgery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β = 15.7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0.229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Not significant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 (nerve blocks)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Blocks/surgery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β = 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Not significant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 (integrated)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Neuropathic/surgery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β = 31.5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0.149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Not significant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Adj. CPSP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Residuals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 = 0.44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0.323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Not significant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</a:defRPr>
            </a:pPr>
            <a:r>
              <a:t>Figure 5. Phase 1 (Acute Pain) vs Phase 2 (CPSP Proxy) Integration</a:t>
            </a:r>
          </a:p>
        </p:txBody>
        <a:spPr>
          <a:noFill/>
          <a:ln>
            <a:noFill/>
          </a:ln>
        </a:spPr>
      </p:sp>
      <p:sp>
        <p:nvSpPr>
          <p:cNvPr id="4" name="TextBox 3"/>
          <p:cNvSpPr txBox="1"/>
          <p:nvPr/>
        </p:nvSpPr>
        <p:spPr>
          <a:xfrm>
            <a:off x="274320" y="630936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66666"/>
                </a:solidFill>
              </a:defRPr>
            </a:pPr>
            <a:r>
              <a:t>(A) Unadjusted: r=0.38, P=0.008.  (B) Confounder-adjusted: r=0.29, P=0.052. Tohoku = red borders.</a:t>
            </a:r>
          </a:p>
        </p:txBody>
        <a:spPr>
          <a:noFill/>
          <a:ln>
            <a:noFill/>
          </a:ln>
        </a:spPr>
      </p:sp>
      <p:pic>
        <p:nvPicPr>
          <p:cNvPr id="3" name="Picture 2" descr="fig5_phase1_vs_phas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" y="914400"/>
            <a:ext cx="11430000" cy="51206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</a:defRPr>
            </a:pPr>
            <a:r>
              <a:t>Figure 6. Summary: Tohoku Effect Across All Models</a:t>
            </a:r>
          </a:p>
        </p:txBody>
        <a:spPr>
          <a:noFill/>
          <a:ln>
            <a:noFill/>
          </a:ln>
        </a:spPr>
      </p:sp>
      <p:sp>
        <p:nvSpPr>
          <p:cNvPr id="4" name="TextBox 3"/>
          <p:cNvSpPr txBox="1"/>
          <p:nvPr/>
        </p:nvSpPr>
        <p:spPr>
          <a:xfrm>
            <a:off x="274320" y="630936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66666"/>
                </a:solidFill>
              </a:defRPr>
            </a:pPr>
            <a:r>
              <a:t>Model 1 (unadjusted) shows highly significant excess; all adjusted models show non-significant results.</a:t>
            </a:r>
          </a:p>
        </p:txBody>
        <a:spPr>
          <a:noFill/>
          <a:ln>
            <a:noFill/>
          </a:ln>
        </a:spPr>
      </p:sp>
      <p:pic>
        <p:nvPicPr>
          <p:cNvPr id="3" name="Picture 2" descr="fig6_model_comparison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" y="914400"/>
            <a:ext cx="11430000" cy="46487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</a:defRPr>
            </a:pPr>
            <a:r>
              <a:t>Supplementary Figure 1. Z-Score Heatmap of All Indices by Prefecture</a:t>
            </a:r>
          </a:p>
        </p:txBody>
        <a:spPr>
          <a:noFill/>
          <a:ln>
            <a:noFill/>
          </a:ln>
        </a:spPr>
      </p:sp>
      <p:sp>
        <p:nvSpPr>
          <p:cNvPr id="4" name="TextBox 3"/>
          <p:cNvSpPr txBox="1"/>
          <p:nvPr/>
        </p:nvSpPr>
        <p:spPr>
          <a:xfrm>
            <a:off x="274320" y="630936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66666"/>
                </a:solidFill>
              </a:defRPr>
            </a:pPr>
            <a:r>
              <a:t>Each row = variable; each column = prefecture (sorted by neuropathic Rx). Red = above average; blue = below average. Tohoku = red lines.</a:t>
            </a:r>
          </a:p>
        </p:txBody>
        <a:spPr>
          <a:noFill/>
          <a:ln>
            <a:noFill/>
          </a:ln>
        </a:spPr>
      </p:sp>
      <p:pic>
        <p:nvPicPr>
          <p:cNvPr id="3" name="Picture 2" descr="sfig1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695" y="914400"/>
            <a:ext cx="579756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3A5C"/>
                </a:solidFill>
              </a:defRPr>
            </a:pPr>
            <a:r>
              <a:t>Key Findings Summary</a:t>
            </a:r>
          </a:p>
        </p:txBody>
        <a:spPr>
          <a:noFill/>
          <a:ln>
            <a:noFill/>
          </a:ln>
        </a:spPr>
      </p:sp>
      <p:sp>
        <p:nvSpPr>
          <p:cNvPr id="3" name="Rounded Rectangle 2"/>
          <p:cNvSpPr/>
          <p:nvPr/>
        </p:nvSpPr>
        <p:spPr>
          <a:xfrm>
            <a:off x="3657600" y="914400"/>
            <a:ext cx="5029200" cy="640080"/>
          </a:xfrm>
          <a:prstGeom prst="roundRect">
            <a:avLst/>
          </a:prstGeom>
          <a:solidFill>
            <a:srgbClr val="95A5A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>
                <a:solidFill>
                  <a:srgbClr val="111111"/>
                </a:solidFill>
              </a:defRPr>
            </a:pPr>
            <a:r>
              <a:t>Hypothesis: Tohoku "stoicism" → less analgesic use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572000" cy="82296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>
                <a:solidFill>
                  <a:srgbClr val="FFFFFF"/>
                </a:solidFill>
              </a:defRPr>
            </a:pPr>
            <a:r>
              <a:t>Phase 1: Acute perioperative analgesics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Tohoku HIGHER (d=0.87, P=0.031)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→ Stoicism hypothesis REJECTED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011680"/>
            <a:ext cx="5029200" cy="822960"/>
          </a:xfrm>
          <a:prstGeom prst="roundRect">
            <a:avLst/>
          </a:prstGeom>
          <a:solidFill>
            <a:srgbClr val="C0392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>
                <a:solidFill>
                  <a:srgbClr val="FFFFFF"/>
                </a:solidFill>
              </a:defRPr>
            </a:pPr>
            <a:r>
              <a:t>Phase 2 (unadjusted): Neuropathic pain drugs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Tohoku HIGHEST (d=2.07, P&lt;0.001)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But confounders not controlled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3291840"/>
            <a:ext cx="5029200" cy="640080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>
                <a:solidFill>
                  <a:srgbClr val="111111"/>
                </a:solidFill>
              </a:defRPr>
            </a:pPr>
            <a:r>
              <a:t>Confounder adjustment: Diabetes (r=0.87) + Herpes + Depression + Anxiety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4389120"/>
            <a:ext cx="6858000" cy="82296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300">
                <a:solidFill>
                  <a:srgbClr val="FFFFFF"/>
                </a:solidFill>
              </a:defRPr>
            </a:pPr>
            <a:r>
              <a:t>Phase 2 (adjusted): Tohoku effect NON-SIGNIFICANT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(d=0.44, P=0.323) → Excess explained by diabetes prevalence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5577840"/>
            <a:ext cx="7772400" cy="640080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300">
                <a:solidFill>
                  <a:srgbClr val="FFFFFF"/>
                </a:solidFill>
              </a:defRPr>
            </a:pPr>
            <a:r>
              <a:t>Integration: Acute pain ↔ Chronic pain modest correlation (r=0.29, P=0.052 after adjustment)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200400" y="1554480"/>
            <a:ext cx="2971800" cy="4572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172200" y="1554480"/>
            <a:ext cx="2743200" cy="4572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172200" y="2834640"/>
            <a:ext cx="2743200" cy="4572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172200" y="3931920"/>
            <a:ext cx="0" cy="4572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0" y="2834640"/>
            <a:ext cx="2971800" cy="27432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172200" y="5212080"/>
            <a:ext cx="0" cy="36576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3A5C"/>
                </a:solidFill>
              </a:defRPr>
            </a:pPr>
            <a:r>
              <a:t>Confounder Adjustment Framework ("Noise Dilution")</a:t>
            </a:r>
          </a:p>
        </p:txBody>
        <a:spPr>
          <a:noFill/>
          <a:ln>
            <a:noFill/>
          </a:ln>
        </a:spPr>
      </p:sp>
      <p:sp>
        <p:nvSpPr>
          <p:cNvPr id="3" name="Rounded Rectangle 2"/>
          <p:cNvSpPr/>
          <p:nvPr/>
        </p:nvSpPr>
        <p:spPr>
          <a:xfrm>
            <a:off x="4114800" y="914400"/>
            <a:ext cx="4114800" cy="640080"/>
          </a:xfrm>
          <a:prstGeom prst="roundRect">
            <a:avLst/>
          </a:prstGeom>
          <a:solidFill>
            <a:srgbClr val="C0392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FFFFFF"/>
                </a:solidFill>
              </a:defRPr>
            </a:pPr>
            <a:r>
              <a:t>Outpatient neuropathic pain drug Rx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(pregabalin, mirogabalin, duloxetine, tramadol, neurotropin)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743200" cy="73152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300">
                <a:solidFill>
                  <a:srgbClr val="FFFFFF"/>
                </a:solidFill>
              </a:defRPr>
            </a:pPr>
            <a:r>
              <a:t>CPSP signal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(target)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2286000"/>
            <a:ext cx="2011680" cy="731520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>
                <a:solidFill>
                  <a:srgbClr val="111111"/>
                </a:solidFill>
              </a:defRPr>
            </a:pPr>
            <a:r>
              <a:t>Diabetic</a:t>
            </a:r>
          </a:p>
          <a:p>
            <a:pPr algn="ctr">
              <a:defRPr sz="1200">
                <a:solidFill>
                  <a:srgbClr val="111111"/>
                </a:solidFill>
              </a:defRPr>
            </a:pPr>
            <a:r>
              <a:t>neuropathy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2286000"/>
            <a:ext cx="2011680" cy="731520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>
                <a:solidFill>
                  <a:srgbClr val="111111"/>
                </a:solidFill>
              </a:defRPr>
            </a:pPr>
            <a:r>
              <a:t>Postherpetic</a:t>
            </a:r>
          </a:p>
          <a:p>
            <a:pPr algn="ctr">
              <a:defRPr sz="1200">
                <a:solidFill>
                  <a:srgbClr val="111111"/>
                </a:solidFill>
              </a:defRPr>
            </a:pPr>
            <a:r>
              <a:t>neuralgia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286000"/>
            <a:ext cx="1828800" cy="731520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>
                <a:solidFill>
                  <a:srgbClr val="111111"/>
                </a:solidFill>
              </a:defRPr>
            </a:pPr>
            <a:r>
              <a:t>Depression</a:t>
            </a:r>
          </a:p>
          <a:p>
            <a:pPr algn="ctr">
              <a:defRPr sz="1200">
                <a:solidFill>
                  <a:srgbClr val="111111"/>
                </a:solidFill>
              </a:defRPr>
            </a:pPr>
            <a:r>
              <a:t>(off-label)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49840" y="2286000"/>
            <a:ext cx="1828800" cy="731520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>
                <a:solidFill>
                  <a:srgbClr val="111111"/>
                </a:solidFill>
              </a:defRPr>
            </a:pPr>
            <a:r>
              <a:t>Anxiety</a:t>
            </a:r>
          </a:p>
          <a:p>
            <a:pPr algn="ctr">
              <a:defRPr sz="1200">
                <a:solidFill>
                  <a:srgbClr val="111111"/>
                </a:solidFill>
              </a:defRPr>
            </a:pPr>
            <a:r>
              <a:t>(off-label)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3657600"/>
            <a:ext cx="2011680" cy="640080"/>
          </a:xfrm>
          <a:prstGeom prst="roundRect">
            <a:avLst/>
          </a:prstGeom>
          <a:solidFill>
            <a:srgbClr val="EBCB8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>
                <a:solidFill>
                  <a:srgbClr val="111111"/>
                </a:solidFill>
              </a:defRPr>
            </a:pPr>
            <a:r>
              <a:t>Oral hypoglycaemics</a:t>
            </a:r>
          </a:p>
          <a:p>
            <a:pPr algn="ctr">
              <a:defRPr sz="1000">
                <a:solidFill>
                  <a:srgbClr val="111111"/>
                </a:solidFill>
              </a:defRPr>
            </a:pPr>
            <a:r>
              <a:t>(261 formulations)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3657600"/>
            <a:ext cx="2011680" cy="640080"/>
          </a:xfrm>
          <a:prstGeom prst="roundRect">
            <a:avLst/>
          </a:prstGeom>
          <a:solidFill>
            <a:srgbClr val="EBCB8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>
                <a:solidFill>
                  <a:srgbClr val="111111"/>
                </a:solidFill>
              </a:defRPr>
            </a:pPr>
            <a:r>
              <a:t>Herpes antivirals</a:t>
            </a:r>
          </a:p>
          <a:p>
            <a:pPr algn="ctr">
              <a:defRPr sz="1000">
                <a:solidFill>
                  <a:srgbClr val="111111"/>
                </a:solidFill>
              </a:defRPr>
            </a:pPr>
            <a:r>
              <a:t>(47 formulations)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657600"/>
            <a:ext cx="1828800" cy="640080"/>
          </a:xfrm>
          <a:prstGeom prst="roundRect">
            <a:avLst/>
          </a:prstGeom>
          <a:solidFill>
            <a:srgbClr val="EBCB8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>
                <a:solidFill>
                  <a:srgbClr val="111111"/>
                </a:solidFill>
              </a:defRPr>
            </a:pPr>
            <a:r>
              <a:t>Antidepressants</a:t>
            </a:r>
          </a:p>
          <a:p>
            <a:pPr algn="ctr">
              <a:defRPr sz="1000">
                <a:solidFill>
                  <a:srgbClr val="111111"/>
                </a:solidFill>
              </a:defRPr>
            </a:pPr>
            <a:r>
              <a:t>(128 formulations)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49840" y="3657600"/>
            <a:ext cx="1828800" cy="640080"/>
          </a:xfrm>
          <a:prstGeom prst="roundRect">
            <a:avLst/>
          </a:prstGeom>
          <a:solidFill>
            <a:srgbClr val="EBCB8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>
                <a:solidFill>
                  <a:srgbClr val="111111"/>
                </a:solidFill>
              </a:defRPr>
            </a:pPr>
            <a:r>
              <a:t>Anxiolytics</a:t>
            </a:r>
          </a:p>
          <a:p>
            <a:pPr algn="ctr">
              <a:defRPr sz="1000">
                <a:solidFill>
                  <a:srgbClr val="111111"/>
                </a:solidFill>
              </a:defRPr>
            </a:pPr>
            <a:r>
              <a:t>(112 formulations)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4846320"/>
            <a:ext cx="6858000" cy="64008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>
                <a:solidFill>
                  <a:srgbClr val="FFFFFF"/>
                </a:solidFill>
              </a:defRPr>
            </a:pPr>
            <a:r>
              <a:t>OLS Regression: Neuropathic Rx = β₀ + β₁·Diabetes + β₂·Herpes + β₃·Antidep + β₄·Anxiolytic + 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5852160"/>
            <a:ext cx="5029200" cy="640080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>
                <a:solidFill>
                  <a:srgbClr val="FFFFFF"/>
                </a:solidFill>
              </a:defRPr>
            </a:pPr>
            <a:r>
              <a:t>Residuals (ε) = Adjusted CPSP Index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"Unexplained" neuropathic pain after removing confounders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828800" y="1554480"/>
            <a:ext cx="4343400" cy="73152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480560" y="1554480"/>
            <a:ext cx="1691640" cy="73152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6172200" y="1554480"/>
            <a:ext cx="594360" cy="73152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6172200" y="1554480"/>
            <a:ext cx="2788920" cy="73152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6172200" y="1554480"/>
            <a:ext cx="4892040" cy="73152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480560" y="3017520"/>
            <a:ext cx="0" cy="64008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766560" y="3017520"/>
            <a:ext cx="0" cy="64008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961120" y="3017520"/>
            <a:ext cx="0" cy="64008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064240" y="3017520"/>
            <a:ext cx="0" cy="64008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480560" y="4297680"/>
            <a:ext cx="1691640" cy="54864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172200" y="4297680"/>
            <a:ext cx="594360" cy="54864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172200" y="4297680"/>
            <a:ext cx="2788920" cy="54864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6172200" y="4297680"/>
            <a:ext cx="4892040" cy="54864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172200" y="5486400"/>
            <a:ext cx="0" cy="36576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