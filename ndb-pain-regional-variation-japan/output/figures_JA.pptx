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A5C"/>
                </a:solidFill>
              </a:defRPr>
            </a:pPr>
            <a:r>
              <a:t>日本における周術期および慢性疼痛関連処方の地域差</a:t>
            </a:r>
          </a:p>
          <a:p>
            <a:pPr algn="ctr">
              <a:defRPr sz="1800">
                <a:solidFill>
                  <a:srgbClr val="555555"/>
                </a:solidFill>
              </a:defRPr>
            </a:pPr>
            <a:r>
              <a:t>NDBオープンデータを用いた統合的生態学的研究</a:t>
            </a:r>
            <a:br/>
            <a:r>
              <a:t>Phase 1：急性期疼痛  |  Phase 2：術後遷延性疼痛（CPSP）</a:t>
            </a:r>
          </a:p>
        </p:txBody>
        <a:spPr>
          <a:noFill/>
          <a:ln>
            <a:noFill/>
          </a:ln>
        </a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研究デザイン：データソースと分析フレームワーク</a:t>
            </a:r>
          </a:p>
        </p:txBody>
        <a:spPr>
          <a:noFill/>
          <a:ln>
            <a:noFill/>
          </a:ln>
        </a:spPr>
      </p:sp>
      <p:sp>
        <p:nvSpPr>
          <p:cNvPr id="3" name="Rounded Rectangle 2"/>
          <p:cNvSpPr/>
          <p:nvPr/>
        </p:nvSpPr>
        <p:spPr>
          <a:xfrm>
            <a:off x="4114800" y="914400"/>
            <a:ext cx="4114800" cy="7315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NDBオープンデータ 第10回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（2023年4月〜2024年3月）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3200400" cy="64008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FFFFFF"/>
                </a:solidFill>
              </a:defRPr>
            </a:pPr>
            <a:r>
              <a:t>入院鎮痛薬処方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（薬効分類114, 811, 821）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103120"/>
            <a:ext cx="3200400" cy="64008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FFFFFF"/>
                </a:solidFill>
              </a:defRPr>
            </a:pPr>
            <a:r>
              <a:t>外来神経障害性疼痛薬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（PGB, MGB, DLX, TRM, NTP）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103120"/>
            <a:ext cx="2743200" cy="64008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FFFFFF"/>
                </a:solidFill>
              </a:defRPr>
            </a:pPr>
            <a:r>
              <a:t>入院手術件数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（Kコード 手術区分）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108960"/>
            <a:ext cx="3200400" cy="82296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>
                <a:solidFill>
                  <a:srgbClr val="111111"/>
                </a:solidFill>
              </a:defRPr>
            </a:pPr>
            <a:r>
              <a:t>交絡疾患プロキシ（外来）：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糖尿病薬 | 帯状疱疹薬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抗うつ薬 | 抗不安薬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97680"/>
            <a:ext cx="3200400" cy="73152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Phase 1：急性期疼痛指標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鎮痛薬処方量 / 手術件数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297680"/>
            <a:ext cx="3200400" cy="73152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Phase 2：CPSPプロキシ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神経障害性疼痛薬 / 手術件数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297680"/>
            <a:ext cx="2743200" cy="73152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調整済CPSP指標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（交絡除去後の残差）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5486400"/>
            <a:ext cx="5943600" cy="64008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統合：急性期 vs 慢性期疼痛の相関 | 東北比較 | 地域ランキング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514600" y="1645920"/>
            <a:ext cx="36576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72200" y="1645920"/>
            <a:ext cx="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72200" y="1645920"/>
            <a:ext cx="34290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72200" y="2743200"/>
            <a:ext cx="0" cy="36576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514600" y="2743200"/>
            <a:ext cx="0" cy="15544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72200" y="2743200"/>
            <a:ext cx="0" cy="15544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3931920"/>
            <a:ext cx="3429000" cy="36576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14600" y="5029200"/>
            <a:ext cx="36576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72200" y="5029200"/>
            <a:ext cx="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172200" y="5029200"/>
            <a:ext cx="34290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表1. Phase 1：地域ブロック別 入院鎮痛薬/手術指標</a:t>
            </a:r>
          </a:p>
        </p:txBody>
        <a:spPr>
          <a:noFill/>
          <a:ln>
            <a:noFill/>
          </a:ln>
        </a:spPr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058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2286000"/>
                <a:gridCol w="27432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地域ブロック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平均（SD）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範囲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順位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東海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27.62 (2.18)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25.20–30.07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近畿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30.02 (2.03)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27.92–32.33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関東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33.00 (2.09)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29.82–34.78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北陸・甲信越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35.38 (3.54)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31.18–40.08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中国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35.73 (4.18)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31.01–40.17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四国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36.33 (3.27)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33.49–41.02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東北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39.97 (3.53)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35.18–44.51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九州・沖縄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42.26 (4.33)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35.82–49.75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北海道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46.12 (—)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46.12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全国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35.78 (5.56)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25.20–49.75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図1. 都道府県別 外来神経障害性疼痛薬処方量/手術（未調整）</a:t>
            </a:r>
          </a:p>
        </p:txBody>
        <a:spPr>
          <a:noFill/>
          <a:ln>
            <a:noFill/>
          </a:ln>
        </a:spPr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棒グラフ＝神経障害性疼痛薬合計（PGB+MGB+DLX+TRM+NTP）÷入院手術件数。東北（赤枠）が高値側に集中。破線＝全国平均。</a:t>
            </a:r>
          </a:p>
        </p:txBody>
        <a:spPr>
          <a:noFill/>
          <a:ln>
            <a:noFill/>
          </a:ln>
        </a:spPr>
      </p:sp>
      <p:pic>
        <p:nvPicPr>
          <p:cNvPr id="3" name="Picture 2" descr="fig1_neuropathic_unadjus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914400"/>
            <a:ext cx="11430000" cy="495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図2. 神経障害性疼痛薬処方と交絡疾患プロキシの相関</a:t>
            </a:r>
          </a:p>
        </p:txBody>
        <a:spPr>
          <a:noFill/>
          <a:ln>
            <a:noFill/>
          </a:ln>
        </a:spPr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各点＝1都道府県。東北＝赤枠。糖尿病薬が最も強い相関（r=0.87）を示す。</a:t>
            </a:r>
          </a:p>
        </p:txBody>
        <a:spPr>
          <a:noFill/>
          <a:ln>
            <a:noFill/>
          </a:ln>
        </a:spPr>
      </p:sp>
      <p:pic>
        <p:nvPicPr>
          <p:cNvPr id="3" name="Picture 2" descr="fig2_confounder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212" y="914400"/>
            <a:ext cx="589452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図3. 交絡疾患調整後の都道府県別CPSP指標</a:t>
            </a:r>
          </a:p>
        </p:txBody>
        <a:spPr>
          <a:noFill/>
          <a:ln>
            <a:noFill/>
          </a:ln>
        </a:spPr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残差＝神経障害性疼痛薬処方を糖尿病薬・帯状疱疹薬・抗うつ薬・抗不安薬に回帰した後の残差。東北は調整後に分散。</a:t>
            </a:r>
          </a:p>
        </p:txBody>
        <a:spPr>
          <a:noFill/>
          <a:ln>
            <a:noFill/>
          </a:ln>
        </a:spPr>
      </p:sp>
      <p:pic>
        <p:nvPicPr>
          <p:cNvPr id="3" name="Picture 2" descr="fig3_adjusted_cpsp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914400"/>
            <a:ext cx="11430000" cy="49458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図4. 地域ブロック別比較：(A) 未調整 vs (B) 交絡疾患調整後</a:t>
            </a:r>
          </a:p>
        </p:txBody>
        <a:spPr>
          <a:noFill/>
          <a:ln>
            <a:noFill/>
          </a:ln>
        </a:spPr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東北（赤枠）は未調整では最高だが、調整後は中位に移動。エラーバー＝標準偏差。</a:t>
            </a:r>
          </a:p>
        </p:txBody>
        <a:spPr>
          <a:noFill/>
          <a:ln>
            <a:noFill/>
          </a:ln>
        </a:spPr>
      </p:sp>
      <p:pic>
        <p:nvPicPr>
          <p:cNvPr id="3" name="Picture 2" descr="fig4_region_unadj_vs_ad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914400"/>
            <a:ext cx="11430000" cy="49612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表2. 回帰モデル：交絡調整前後の東北効果</a:t>
            </a:r>
          </a:p>
        </p:txBody>
        <a:spPr>
          <a:noFill/>
          <a:ln>
            <a:noFill/>
          </a:ln>
        </a:spPr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13716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モデル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従属変数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東北効果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P値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1（未調整）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神経障害性疼痛薬/手術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 = 2.07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7.4e-08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有意 ***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2（全交絡調整）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神経障害性疼痛薬/手術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β = 32.6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有意でない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3（コア薬）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PGB+MGB/手術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β = 15.7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0.229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有意でない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4（神経ブロック）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ブロック/手術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β = 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有意でない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5（統合）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神経障害性疼痛薬/手術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β = 31.5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有意でない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調整済CPSP指標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残差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 = 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有意でない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図5. Phase 1（急性期疼痛）vs Phase 2（CPSPプロキシ）の統合</a:t>
            </a:r>
          </a:p>
        </p:txBody>
        <a:spPr>
          <a:noFill/>
          <a:ln>
            <a:noFill/>
          </a:ln>
        </a:spPr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(A) 未調整：r=0.38, P=0.008。(B) 交絡調整後：r=0.29, P=0.052。東北＝赤枠。</a:t>
            </a:r>
          </a:p>
        </p:txBody>
        <a:spPr>
          <a:noFill/>
          <a:ln>
            <a:noFill/>
          </a:ln>
        </a:spPr>
      </p:sp>
      <p:pic>
        <p:nvPicPr>
          <p:cNvPr id="3" name="Picture 2" descr="fig5_phase1_vs_phas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914400"/>
            <a:ext cx="11430000" cy="51206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図6. 全モデル要約：交絡調整前後の東北効果</a:t>
            </a:r>
          </a:p>
        </p:txBody>
        <a:spPr>
          <a:noFill/>
          <a:ln>
            <a:noFill/>
          </a:ln>
        </a:spPr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モデル1（未調整）は高度有意な過剰を示すが、全調整モデルでは有意でなくなる。</a:t>
            </a:r>
          </a:p>
        </p:txBody>
        <a:spPr>
          <a:noFill/>
          <a:ln>
            <a:noFill/>
          </a:ln>
        </a:spPr>
      </p:sp>
      <p:pic>
        <p:nvPicPr>
          <p:cNvPr id="3" name="Picture 2" descr="fig6_model_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914400"/>
            <a:ext cx="11430000" cy="46487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補足図1. 都道府県別 各指標のZ-scoreヒートマップ</a:t>
            </a:r>
          </a:p>
        </p:txBody>
        <a:spPr>
          <a:noFill/>
          <a:ln>
            <a:noFill/>
          </a:ln>
        </a:spPr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各行＝変数、各列＝都道府県（神経障害性疼痛薬/手術で昇順ソート）。赤＝平均以上、青＝平均以下。東北＝赤の垂直線。</a:t>
            </a:r>
          </a:p>
        </p:txBody>
        <a:spPr>
          <a:noFill/>
          <a:ln>
            <a:noFill/>
          </a:ln>
        </a:spPr>
      </p:sp>
      <p:pic>
        <p:nvPicPr>
          <p:cNvPr id="3" name="Picture 2" descr="sfig1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695" y="914400"/>
            <a:ext cx="579756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主要所見の要約</a:t>
            </a:r>
          </a:p>
        </p:txBody>
        <a:spPr>
          <a:noFill/>
          <a:ln>
            <a:noFill/>
          </a:ln>
        </a:spPr>
      </p:sp>
      <p:sp>
        <p:nvSpPr>
          <p:cNvPr id="3" name="Rounded Rectangle 2"/>
          <p:cNvSpPr/>
          <p:nvPr/>
        </p:nvSpPr>
        <p:spPr>
          <a:xfrm>
            <a:off x="3657600" y="914400"/>
            <a:ext cx="5029200" cy="640080"/>
          </a:xfrm>
          <a:prstGeom prst="roundRect">
            <a:avLst/>
          </a:prstGeom>
          <a:solidFill>
            <a:srgbClr val="95A5A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>
                <a:solidFill>
                  <a:srgbClr val="111111"/>
                </a:solidFill>
              </a:defRPr>
            </a:pPr>
            <a:r>
              <a:t>仮説：東北の「我慢強さ」→ 鎮痛薬使用が少ない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572000" cy="82296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Phase 1：入院周術期鎮痛薬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東北は高い（d=0.87, P=0.031）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→ 我慢強さ仮説は棄却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11680"/>
            <a:ext cx="5029200" cy="82296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Phase 2（未調整）：神経障害性疼痛薬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東北が最高（d=2.07, P&lt;0.001）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しかし交絡未調整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291840"/>
            <a:ext cx="5029200" cy="64008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111111"/>
                </a:solidFill>
              </a:defRPr>
            </a:pPr>
            <a:r>
              <a:t>交絡調整：糖尿病（r=0.87）+ 帯状疱疹 + うつ病 + 不安障害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389120"/>
            <a:ext cx="6858000" cy="82296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Phase 2（調整後）：東北効果は有意でない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（d=0.44, P=0.323）→ 過剰は糖尿病有病率で説明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5577840"/>
            <a:ext cx="7772400" cy="64008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統合：急性期疼痛 ↔ 慢性疼痛に緩やかな正の相関（調整後 r=0.29, P=0.052）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200400" y="1554480"/>
            <a:ext cx="29718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72200" y="1554480"/>
            <a:ext cx="27432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172200" y="2834640"/>
            <a:ext cx="27432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72200" y="3931920"/>
            <a:ext cx="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0" y="2834640"/>
            <a:ext cx="2971800" cy="2743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72200" y="5212080"/>
            <a:ext cx="0" cy="36576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交絡調整フレームワーク（「ノイズ希釈」）</a:t>
            </a:r>
          </a:p>
        </p:txBody>
        <a:spPr>
          <a:noFill/>
          <a:ln>
            <a:noFill/>
          </a:ln>
        </a:spPr>
      </p:sp>
      <p:sp>
        <p:nvSpPr>
          <p:cNvPr id="3" name="Rounded Rectangle 2"/>
          <p:cNvSpPr/>
          <p:nvPr/>
        </p:nvSpPr>
        <p:spPr>
          <a:xfrm>
            <a:off x="4114800" y="914400"/>
            <a:ext cx="4114800" cy="64008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FFFFFF"/>
                </a:solidFill>
              </a:defRPr>
            </a:pPr>
            <a:r>
              <a:t>外来 神経障害性疼痛薬処方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（プレガバリン、ミロガバリン、デュロキセチン、トラマドール、ノイロトロピン）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743200" cy="73152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CPSPシグナル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（ターゲット）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286000"/>
            <a:ext cx="2011680" cy="73152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111111"/>
                </a:solidFill>
              </a:defRPr>
            </a:pPr>
            <a:r>
              <a:t>糖尿病性</a:t>
            </a:r>
          </a:p>
          <a:p>
            <a:pPr algn="ctr">
              <a:defRPr sz="1200">
                <a:solidFill>
                  <a:srgbClr val="111111"/>
                </a:solidFill>
              </a:defRPr>
            </a:pPr>
            <a:r>
              <a:t>神経障害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2286000"/>
            <a:ext cx="2011680" cy="73152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111111"/>
                </a:solidFill>
              </a:defRPr>
            </a:pPr>
            <a:r>
              <a:t>帯状疱疹後</a:t>
            </a:r>
          </a:p>
          <a:p>
            <a:pPr algn="ctr">
              <a:defRPr sz="1200">
                <a:solidFill>
                  <a:srgbClr val="111111"/>
                </a:solidFill>
              </a:defRPr>
            </a:pPr>
            <a:r>
              <a:t>神経痛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286000"/>
            <a:ext cx="1828800" cy="73152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111111"/>
                </a:solidFill>
              </a:defRPr>
            </a:pPr>
            <a:r>
              <a:t>うつ病</a:t>
            </a:r>
          </a:p>
          <a:p>
            <a:pPr algn="ctr">
              <a:defRPr sz="1200">
                <a:solidFill>
                  <a:srgbClr val="111111"/>
                </a:solidFill>
              </a:defRPr>
            </a:pPr>
            <a:r>
              <a:t>（適応外）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0" y="2286000"/>
            <a:ext cx="1828800" cy="73152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111111"/>
                </a:solidFill>
              </a:defRPr>
            </a:pPr>
            <a:r>
              <a:t>不安障害</a:t>
            </a:r>
          </a:p>
          <a:p>
            <a:pPr algn="ctr">
              <a:defRPr sz="1200">
                <a:solidFill>
                  <a:srgbClr val="111111"/>
                </a:solidFill>
              </a:defRPr>
            </a:pPr>
            <a:r>
              <a:t>（適応外）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657600"/>
            <a:ext cx="2011680" cy="640080"/>
          </a:xfrm>
          <a:prstGeom prst="roundRect">
            <a:avLst/>
          </a:prstGeom>
          <a:solidFill>
            <a:srgbClr val="EBCB8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>
                <a:solidFill>
                  <a:srgbClr val="111111"/>
                </a:solidFill>
              </a:defRPr>
            </a:pPr>
            <a:r>
              <a:t>経口血糖降下薬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（261製剤）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657600"/>
            <a:ext cx="2011680" cy="640080"/>
          </a:xfrm>
          <a:prstGeom prst="roundRect">
            <a:avLst/>
          </a:prstGeom>
          <a:solidFill>
            <a:srgbClr val="EBCB8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>
                <a:solidFill>
                  <a:srgbClr val="111111"/>
                </a:solidFill>
              </a:defRPr>
            </a:pPr>
            <a:r>
              <a:t>帯状疱疹抗ウイルス薬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（47製剤）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657600"/>
            <a:ext cx="1828800" cy="640080"/>
          </a:xfrm>
          <a:prstGeom prst="roundRect">
            <a:avLst/>
          </a:prstGeom>
          <a:solidFill>
            <a:srgbClr val="EBCB8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>
                <a:solidFill>
                  <a:srgbClr val="111111"/>
                </a:solidFill>
              </a:defRPr>
            </a:pPr>
            <a:r>
              <a:t>抗うつ薬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（128製剤）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3657600"/>
            <a:ext cx="1828800" cy="640080"/>
          </a:xfrm>
          <a:prstGeom prst="roundRect">
            <a:avLst/>
          </a:prstGeom>
          <a:solidFill>
            <a:srgbClr val="EBCB8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>
                <a:solidFill>
                  <a:srgbClr val="111111"/>
                </a:solidFill>
              </a:defRPr>
            </a:pPr>
            <a:r>
              <a:t>抗不安薬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（112製剤）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846320"/>
            <a:ext cx="6858000" cy="64008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OLS回帰：神経障害性疼痛薬 = β₀ + β₁·糖尿病薬 + β₂·帯状疱疹薬 + β₃·抗うつ薬 + β₄·抗不安薬 + 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5852160"/>
            <a:ext cx="5029200" cy="64008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残差（ε）= 調整済CPSP指標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交絡除去後の「説明されない」神経障害性疼痛薬処方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828800" y="1554480"/>
            <a:ext cx="4343400" cy="7315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480560" y="1554480"/>
            <a:ext cx="1691640" cy="7315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6172200" y="1554480"/>
            <a:ext cx="594360" cy="7315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6172200" y="1554480"/>
            <a:ext cx="2788920" cy="7315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6172200" y="1554480"/>
            <a:ext cx="4892040" cy="7315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80560" y="3017520"/>
            <a:ext cx="0" cy="6400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66560" y="3017520"/>
            <a:ext cx="0" cy="6400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961120" y="3017520"/>
            <a:ext cx="0" cy="6400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064240" y="3017520"/>
            <a:ext cx="0" cy="6400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80560" y="4297680"/>
            <a:ext cx="1691640" cy="54864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172200" y="4297680"/>
            <a:ext cx="594360" cy="54864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172200" y="4297680"/>
            <a:ext cx="2788920" cy="54864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172200" y="4297680"/>
            <a:ext cx="4892040" cy="54864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72200" y="5486400"/>
            <a:ext cx="0" cy="36576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