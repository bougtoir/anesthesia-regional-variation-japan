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noFill/>
          <a:xfrm>
            <a:off x="457200" y="182880"/>
            <a:ext cx="11247120" cy="5486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1B1B"/>
                </a:solidFill>
              </a:defRPr>
            </a:pPr>
            <a:r>
              <a:t>図1. モデル vs 観測人口：代表6カ国（1970–2023）</a:t>
            </a:r>
          </a:p>
        </p:txBody>
      </p:sp>
      <p:pic>
        <p:nvPicPr>
          <p:cNvPr id="3" name="Picture 2" descr="fig1_show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128" y="914400"/>
            <a:ext cx="9151439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noFill/>
          <a:xfrm>
            <a:off x="457200" y="6126480"/>
            <a:ext cx="11247120" cy="64008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444"/>
                </a:solidFill>
              </a:defRPr>
            </a:pPr>
            <a:r>
              <a:t>動的モデル（青破線）は10年ごとにパラメータ更新。静的モデル（赤点線）は1970年パラメータ固定。黒実線＝UN WPP 2024推計値。対象国：日本、中国、米国、韓国、ドイツ、DRC。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noFill/>
          <a:xfrm>
            <a:off x="457200" y="182880"/>
            <a:ext cx="11247120" cy="5486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1B1B"/>
                </a:solidFill>
              </a:defRPr>
            </a:pPr>
            <a:r>
              <a:t>図2. 全40カ国のモデル検証</a:t>
            </a:r>
          </a:p>
        </p:txBody>
      </p:sp>
      <p:pic>
        <p:nvPicPr>
          <p:cNvPr id="3" name="Picture 2" descr="fig2_all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977" y="914400"/>
            <a:ext cx="3965739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noFill/>
          <a:xfrm>
            <a:off x="457200" y="6126480"/>
            <a:ext cx="11247120" cy="64008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444"/>
                </a:solidFill>
              </a:defRPr>
            </a:pPr>
            <a:r>
              <a:t>各パネル右上に動的モデルMAPEを表示。アルファベット順。40カ国中30カ国でMAPE&lt;10%、20カ国で&lt;5%。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noFill/>
          <a:xfrm>
            <a:off x="457200" y="182880"/>
            <a:ext cx="11247120" cy="5486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1B1B"/>
                </a:solidFill>
              </a:defRPr>
            </a:pPr>
            <a:r>
              <a:t>図3. 静的モデルMAPE（%）：国×基準年</a:t>
            </a:r>
          </a:p>
        </p:txBody>
      </p:sp>
      <p:pic>
        <p:nvPicPr>
          <p:cNvPr id="3" name="Picture 2" descr="fig3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018" y="914400"/>
            <a:ext cx="3065658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noFill/>
          <a:xfrm>
            <a:off x="457200" y="6126480"/>
            <a:ext cx="11247120" cy="64008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444"/>
                </a:solidFill>
              </a:defRPr>
            </a:pPr>
            <a:r>
              <a:t>緑＝良好な適合、赤＝不良。スケール上限30%。基準年が新しいほど適合が改善。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noFill/>
          <a:xfrm>
            <a:off x="457200" y="182880"/>
            <a:ext cx="11247120" cy="5486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1B1B"/>
                </a:solidFill>
              </a:defRPr>
            </a:pPr>
            <a:r>
              <a:t>図4. 静的 vs 動的モデル比較</a:t>
            </a:r>
          </a:p>
        </p:txBody>
      </p:sp>
      <p:pic>
        <p:nvPicPr>
          <p:cNvPr id="3" name="Picture 2" descr="fig4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93" y="914400"/>
            <a:ext cx="10133107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noFill/>
          <a:xfrm>
            <a:off x="457200" y="6126480"/>
            <a:ext cx="11247120" cy="64008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444"/>
                </a:solidFill>
              </a:defRPr>
            </a:pPr>
            <a:r>
              <a:t>左：国別MAPE。右：最終人口比率（モデル/観測、2023年）。動的モデルはMAPE中央値で約2倍の改善。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noFill/>
          <a:xfrm>
            <a:off x="457200" y="182880"/>
            <a:ext cx="11247120" cy="5486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1B1B"/>
                </a:solidFill>
              </a:defRPr>
            </a:pPr>
            <a:r>
              <a:t>図5. モデルバイアス分析（基準年2000）</a:t>
            </a:r>
          </a:p>
        </p:txBody>
      </p:sp>
      <p:pic>
        <p:nvPicPr>
          <p:cNvPr id="3" name="Picture 2" descr="fig5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14400"/>
            <a:ext cx="10515600" cy="34751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noFill/>
          <a:xfrm>
            <a:off x="457200" y="6126480"/>
            <a:ext cx="11247120" cy="64008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444"/>
                </a:solidFill>
              </a:defRPr>
            </a:pPr>
            <a:r>
              <a:t>(A) vs TFR、(B) vs 平均寿命、(C) vs MAC。体系的関係は観察されず、モデルの頑健性を示す。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noFill/>
          <a:xfrm>
            <a:off x="457200" y="182880"/>
            <a:ext cx="11247120" cy="5486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222222"/>
                </a:solidFill>
              </a:defRPr>
            </a:pPr>
            <a:r>
              <a:t>図6. 内生更新モデル：構造とデータフロー</a:t>
            </a:r>
          </a:p>
        </p:txBody>
      </p:sp>
      <p:sp>
        <p:nvSpPr>
          <p:cNvPr id="3" name="TextBox 2"/>
          <p:cNvSpPr txBox="1"/>
          <p:nvPr/>
        </p:nvSpPr>
        <p:spPr>
          <a:noFill/>
          <a:xfrm>
            <a:off x="457200" y="685800"/>
            <a:ext cx="11247120" cy="36576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888888"/>
                </a:solidFill>
              </a:defRPr>
            </a:pPr>
            <a:r>
              <a:t>（編集可能な図——全ての図形を移動・リサイズ・色変更可能）</a:t>
            </a:r>
          </a:p>
        </p:txBody>
      </p:sp>
      <p:sp>
        <p:nvSpPr>
          <p:cNvPr id="4" name="TextBox 3"/>
          <p:cNvSpPr txBox="1"/>
          <p:nvPr/>
        </p:nvSpPr>
        <p:spPr>
          <a:noFill/>
          <a:xfrm>
            <a:off x="274320" y="1143000"/>
            <a:ext cx="2743200" cy="274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884400"/>
                </a:solidFill>
              </a:defRPr>
            </a:pPr>
            <a:r>
              <a:t>入力パラメータ</a:t>
            </a:r>
          </a:p>
        </p:txBody>
      </p:sp>
      <p:sp>
        <p:nvSpPr>
          <p:cNvPr id="13" name="TextBox 12"/>
          <p:cNvSpPr txBox="1"/>
          <p:nvPr/>
        </p:nvSpPr>
        <p:spPr>
          <a:noFill/>
          <a:xfrm>
            <a:off x="274320" y="2514600"/>
            <a:ext cx="2743200" cy="274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05588"/>
                </a:solidFill>
              </a:defRPr>
            </a:pPr>
            <a:r>
              <a:t>モデル構成要素</a:t>
            </a:r>
          </a:p>
        </p:txBody>
      </p:sp>
      <p:sp>
        <p:nvSpPr>
          <p:cNvPr id="22" name="TextBox 21"/>
          <p:cNvSpPr txBox="1"/>
          <p:nvPr/>
        </p:nvSpPr>
        <p:spPr>
          <a:noFill/>
          <a:xfrm>
            <a:off x="274320" y="3977639"/>
            <a:ext cx="2743200" cy="274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06633"/>
                </a:solidFill>
              </a:defRPr>
            </a:pPr>
            <a:r>
              <a:t>コアエンジン</a:t>
            </a:r>
          </a:p>
        </p:txBody>
      </p:sp>
      <p:sp>
        <p:nvSpPr>
          <p:cNvPr id="25" name="TextBox 24"/>
          <p:cNvSpPr txBox="1"/>
          <p:nvPr/>
        </p:nvSpPr>
        <p:spPr>
          <a:noFill/>
          <a:xfrm>
            <a:off x="274320" y="5257800"/>
            <a:ext cx="2743200" cy="274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880044"/>
                </a:solidFill>
              </a:defRPr>
            </a:pPr>
            <a:r>
              <a:t>出力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011680" cy="64008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TFR</a:t>
            </a:r>
            <a:br/>
            <a:r>
              <a:t>（合計特殊出生率）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63040"/>
            <a:ext cx="2011680" cy="64008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e₀</a:t>
            </a:r>
            <a:br/>
            <a:r>
              <a:t>（平均寿命）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463040"/>
            <a:ext cx="2011680" cy="64008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MAC</a:t>
            </a:r>
            <a:br/>
            <a:r>
              <a:t>（平均出産年齢）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63040"/>
            <a:ext cx="2011680" cy="64008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σ</a:t>
            </a:r>
            <a:br/>
            <a:r>
              <a:t>（出生スケジュール幅）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63040" y="2148840"/>
            <a:ext cx="0" cy="50292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49039" y="2148840"/>
            <a:ext cx="0" cy="50292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35040" y="2148840"/>
            <a:ext cx="0" cy="50292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21040" y="2148840"/>
            <a:ext cx="0" cy="50292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4320" y="2788920"/>
            <a:ext cx="2377440" cy="77724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正規出生スケジュール</a:t>
            </a:r>
            <a:br/>
            <a:r>
              <a:t>ASFR ~ N(MAC, σ²)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788920"/>
            <a:ext cx="2103120" cy="77724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Gompertz生存関数</a:t>
            </a:r>
            <a:br/>
            <a:r>
              <a:t>S(x) = exp[-(a/b)</a:t>
            </a:r>
            <a:br/>
            <a:r>
              <a:t>×(exp(bx)-1)]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2788920"/>
            <a:ext cx="2377440" cy="77724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年齢別出生率</a:t>
            </a:r>
            <a:br/>
            <a:r>
              <a:t>f(x) = TFR × φ(x)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788920"/>
            <a:ext cx="1828800" cy="77724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キャリブレーション</a:t>
            </a:r>
            <a:br/>
            <a:r>
              <a:t>a: e₀ = ∫S(x)dx</a:t>
            </a:r>
            <a:br/>
            <a:r>
              <a:t>b = 0.085 (固定)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63040" y="3611880"/>
            <a:ext cx="3566160" cy="5943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69080" y="3611880"/>
            <a:ext cx="960120" cy="5943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400800" y="3611880"/>
            <a:ext cx="274320" cy="5943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858000" y="3611880"/>
            <a:ext cx="2286000" cy="5943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57600" y="4160520"/>
            <a:ext cx="4846320" cy="82296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内生更新: P(t+1)</a:t>
            </a:r>
            <a:br/>
            <a:r>
              <a:t>出生 = Σ P_x(t) × f × ASFR(x)  |  加齢: P_{x+1}(t+1) = P_x(t) × s(x)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5029200"/>
            <a:ext cx="0" cy="41148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383280" y="5440680"/>
            <a:ext cx="5394960" cy="640080"/>
          </a:xfrm>
          <a:prstGeom prst="roundRect">
            <a:avLst/>
          </a:prstGeom>
          <a:solidFill>
            <a:srgbClr val="C4418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同時在生人口 (SLP)</a:t>
            </a:r>
            <a:br/>
            <a:r>
              <a:t>P(t) = [P₀(t), P₁(t), ..., P₁₀₀(t)]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4160520"/>
            <a:ext cx="2103120" cy="822960"/>
          </a:xfrm>
          <a:prstGeom prst="roundRect">
            <a:avLst/>
          </a:prstGeom>
          <a:solidFill>
            <a:srgbClr val="9966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動的更新</a:t>
            </a:r>
            <a:br/>
            <a:r>
              <a:t>（10年ごと）:</a:t>
            </a:r>
            <a:br/>
            <a:r>
              <a:t>TFR, e₀, MAC ← WPP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8549640" y="4572000"/>
            <a:ext cx="105156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601200" y="5486400"/>
            <a:ext cx="2103120" cy="640080"/>
          </a:xfrm>
          <a:prstGeom prst="roundRect">
            <a:avLst/>
          </a:prstGeom>
          <a:solidFill>
            <a:srgbClr val="88888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国連WPP 2024</a:t>
            </a:r>
            <a:br/>
            <a:r>
              <a:t>（検証データ）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noFill/>
          <a:xfrm>
            <a:off x="457200" y="182880"/>
            <a:ext cx="11247120" cy="5486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222222"/>
                </a:solidFill>
              </a:defRPr>
            </a:pPr>
            <a:r>
              <a:t>図7. テンポ効果が同時在生人口に与える影響</a:t>
            </a:r>
          </a:p>
        </p:txBody>
      </p:sp>
      <p:sp>
        <p:nvSpPr>
          <p:cNvPr id="3" name="TextBox 2"/>
          <p:cNvSpPr txBox="1"/>
          <p:nvPr/>
        </p:nvSpPr>
        <p:spPr>
          <a:noFill/>
          <a:xfrm>
            <a:off x="457200" y="685800"/>
            <a:ext cx="11247120" cy="36576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888888"/>
                </a:solidFill>
              </a:defRPr>
            </a:pPr>
            <a:r>
              <a:t>（編集可能な図——全ての図形を移動・リサイズ・色変更可能）</a:t>
            </a:r>
          </a:p>
        </p:txBody>
      </p:sp>
      <p:sp>
        <p:nvSpPr>
          <p:cNvPr id="4" name="TextBox 3"/>
          <p:cNvSpPr txBox="1"/>
          <p:nvPr/>
        </p:nvSpPr>
        <p:spPr>
          <a:noFill/>
          <a:xfrm>
            <a:off x="457200" y="1097280"/>
            <a:ext cx="5029200" cy="36576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66CC"/>
                </a:solidFill>
              </a:defRPr>
            </a:pPr>
            <a:r>
              <a:t>シナリオA：MAC = 25歳</a:t>
            </a:r>
          </a:p>
        </p:txBody>
      </p:sp>
      <p:sp>
        <p:nvSpPr>
          <p:cNvPr id="9" name="TextBox 8"/>
          <p:cNvSpPr txBox="1"/>
          <p:nvPr/>
        </p:nvSpPr>
        <p:spPr>
          <a:noFill/>
          <a:xfrm>
            <a:off x="640080" y="4297680"/>
            <a:ext cx="4114800" cy="45720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66CC"/>
                </a:solidFill>
              </a:defRPr>
            </a:pPr>
            <a:r>
              <a:t>→ 4世代が同時に生存</a:t>
            </a:r>
            <a:br/>
            <a:r>
              <a:t>→ より高いSLP</a:t>
            </a:r>
          </a:p>
        </p:txBody>
      </p:sp>
      <p:sp>
        <p:nvSpPr>
          <p:cNvPr id="10" name="TextBox 9"/>
          <p:cNvSpPr txBox="1"/>
          <p:nvPr/>
        </p:nvSpPr>
        <p:spPr>
          <a:noFill/>
          <a:xfrm>
            <a:off x="6400800" y="1097280"/>
            <a:ext cx="5029200" cy="36576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CC3300"/>
                </a:solidFill>
              </a:defRPr>
            </a:pPr>
            <a:r>
              <a:t>シナリオB：MAC = 30歳</a:t>
            </a:r>
          </a:p>
        </p:txBody>
      </p:sp>
      <p:sp>
        <p:nvSpPr>
          <p:cNvPr id="15" name="TextBox 14"/>
          <p:cNvSpPr txBox="1"/>
          <p:nvPr/>
        </p:nvSpPr>
        <p:spPr>
          <a:noFill/>
          <a:xfrm>
            <a:off x="6583680" y="4297680"/>
            <a:ext cx="4572000" cy="45720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CC3300"/>
                </a:solidFill>
              </a:defRPr>
            </a:pPr>
            <a:r>
              <a:t>→ 約3.3世代が同時に生存</a:t>
            </a:r>
            <a:br/>
            <a:r>
              <a:t>→ SLPが約1/6減少</a:t>
            </a:r>
          </a:p>
        </p:txBody>
      </p:sp>
      <p:sp>
        <p:nvSpPr>
          <p:cNvPr id="16" name="TextBox 15"/>
          <p:cNvSpPr txBox="1"/>
          <p:nvPr/>
        </p:nvSpPr>
        <p:spPr>
          <a:noFill/>
          <a:xfrm>
            <a:off x="640080" y="4937760"/>
            <a:ext cx="4114800" cy="274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</a:defRPr>
            </a:pPr>
            <a:r>
              <a:t>*両シナリオでTFRは同一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4114800" cy="502920"/>
          </a:xfrm>
          <a:prstGeom prst="roundRect">
            <a:avLst/>
          </a:prstGeom>
          <a:solidFill>
            <a:srgbClr val="1B7A2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第1世代（75歳）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4114800" cy="50292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第2世代（50歳）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39"/>
            <a:ext cx="4114800" cy="50292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第3世代（25歳）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4114800" cy="502920"/>
          </a:xfrm>
          <a:prstGeom prst="roundRect">
            <a:avLst/>
          </a:prstGeom>
          <a:solidFill>
            <a:srgbClr val="C4418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第4世代（0歳）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554480"/>
            <a:ext cx="4114800" cy="502920"/>
          </a:xfrm>
          <a:prstGeom prst="roundRect">
            <a:avLst/>
          </a:prstGeom>
          <a:solidFill>
            <a:srgbClr val="1B7A2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第1世代（90歳）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194560"/>
            <a:ext cx="4114800" cy="50292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第2世代（60歳）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834639"/>
            <a:ext cx="4114800" cy="50292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第3世代（30歳）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474720"/>
            <a:ext cx="2743200" cy="502920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第4世代（0歳）—部分的*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029200" y="2560320"/>
            <a:ext cx="1188720" cy="731520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MAC</a:t>
            </a:r>
            <a:br/>
            <a:r>
              <a:t>+5年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5303520"/>
            <a:ext cx="9418320" cy="1097280"/>
          </a:xfrm>
          <a:prstGeom prst="roundRect">
            <a:avLst/>
          </a:prstGeom>
          <a:solidFill>
            <a:srgbClr val="2E2E5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核心的知見：MACの5年上昇はTFRとは独立にSLPを約1/6減少させる。</a:t>
            </a:r>
            <a:br/>
            <a:r>
              <a:t>これは人口転換の「速度」を制御し、</a:t>
            </a:r>
            <a:br/>
            <a:r>
              <a:t>制度的適応に利用可能な時間を圧縮する。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noFill/>
          <a:xfrm>
            <a:off x="457200" y="182880"/>
            <a:ext cx="11247120" cy="5486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222222"/>
                </a:solidFill>
              </a:defRPr>
            </a:pPr>
            <a:r>
              <a:t>図8. 政策フレームワーク：テンポ感応型人口管理</a:t>
            </a:r>
          </a:p>
        </p:txBody>
      </p:sp>
      <p:sp>
        <p:nvSpPr>
          <p:cNvPr id="3" name="TextBox 2"/>
          <p:cNvSpPr txBox="1"/>
          <p:nvPr/>
        </p:nvSpPr>
        <p:spPr>
          <a:noFill/>
          <a:xfrm>
            <a:off x="457200" y="685800"/>
            <a:ext cx="11247120" cy="36576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888888"/>
                </a:solidFill>
              </a:defRPr>
            </a:pPr>
            <a:r>
              <a:t>（編集可能な図——全ての図形を移動・リサイズ・色変更可能）</a:t>
            </a:r>
          </a:p>
        </p:txBody>
      </p:sp>
      <p:sp>
        <p:nvSpPr>
          <p:cNvPr id="4" name="TextBox 3"/>
          <p:cNvSpPr txBox="1"/>
          <p:nvPr/>
        </p:nvSpPr>
        <p:spPr>
          <a:noFill/>
          <a:xfrm>
            <a:off x="457200" y="1097280"/>
            <a:ext cx="5486400" cy="3200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CC3300"/>
                </a:solidFill>
              </a:defRPr>
            </a:pPr>
            <a:r>
              <a:t>現行アプローチ（カンタムのみ）</a:t>
            </a:r>
          </a:p>
        </p:txBody>
      </p:sp>
      <p:sp>
        <p:nvSpPr>
          <p:cNvPr id="12" name="TextBox 11"/>
          <p:cNvSpPr txBox="1"/>
          <p:nvPr/>
        </p:nvSpPr>
        <p:spPr>
          <a:noFill/>
          <a:xfrm>
            <a:off x="457200" y="2743200"/>
            <a:ext cx="5486400" cy="3200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6633"/>
                </a:solidFill>
              </a:defRPr>
            </a:pPr>
            <a:r>
              <a:t>提案アプローチ（カンタム＋テンポ）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286000" cy="731520"/>
          </a:xfrm>
          <a:prstGeom prst="roundRect">
            <a:avLst/>
          </a:prstGeom>
          <a:solidFill>
            <a:srgbClr val="CC555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少子化対策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88920" y="1828800"/>
            <a:ext cx="59436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383280" y="1463040"/>
            <a:ext cx="2286000" cy="731520"/>
          </a:xfrm>
          <a:prstGeom prst="roundRect">
            <a:avLst/>
          </a:prstGeom>
          <a:solidFill>
            <a:srgbClr val="CC555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TFR引き上げ</a:t>
            </a:r>
            <a:br/>
            <a:r>
              <a:t>（↑出生数）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15000" y="1828800"/>
            <a:ext cx="59436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09360" y="1463040"/>
            <a:ext cx="2560320" cy="731520"/>
          </a:xfrm>
          <a:prstGeom prst="roundRect">
            <a:avLst/>
          </a:prstGeom>
          <a:solidFill>
            <a:srgbClr val="CC555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人口規模の</a:t>
            </a:r>
            <a:br/>
            <a:r>
              <a:t>増加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15400" y="1828800"/>
            <a:ext cx="59436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09760" y="1463040"/>
            <a:ext cx="2286000" cy="731520"/>
          </a:xfrm>
          <a:prstGeom prst="roundRect">
            <a:avLst/>
          </a:prstGeom>
          <a:solidFill>
            <a:srgbClr val="FF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80000"/>
                </a:solidFill>
              </a:defRPr>
            </a:pPr>
            <a:r>
              <a:t>影響を過大評価</a:t>
            </a:r>
            <a:br/>
            <a:r>
              <a:t>（テンポを無視）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2286000" cy="73152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カンタム：</a:t>
            </a:r>
            <a:br/>
            <a:r>
              <a:t>TFR引き上げ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8920" y="3566160"/>
            <a:ext cx="1965960" cy="8229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4206240"/>
            <a:ext cx="2286000" cy="73152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テンポ：</a:t>
            </a:r>
            <a:br/>
            <a:r>
              <a:t>MAC/AFB引き下げ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88920" y="4572000"/>
            <a:ext cx="196596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17520" y="5212080"/>
            <a:ext cx="1828800" cy="594360"/>
          </a:xfrm>
          <a:prstGeom prst="roundRect">
            <a:avLst/>
          </a:prstGeom>
          <a:solidFill>
            <a:srgbClr val="66AAD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手頂な</a:t>
            </a:r>
            <a:br/>
            <a:r>
              <a:t>住宅支援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5212080"/>
            <a:ext cx="1828800" cy="594360"/>
          </a:xfrm>
          <a:prstGeom prst="roundRect">
            <a:avLst/>
          </a:prstGeom>
          <a:solidFill>
            <a:srgbClr val="66AAD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普遍的</a:t>
            </a:r>
            <a:br/>
            <a:r>
              <a:t>保育インフラ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5212080"/>
            <a:ext cx="2103120" cy="594360"/>
          </a:xfrm>
          <a:prstGeom prst="roundRect">
            <a:avLst/>
          </a:prstGeom>
          <a:solidFill>
            <a:srgbClr val="66AAD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教育課程の</a:t>
            </a:r>
            <a:br/>
            <a:r>
              <a:t>再構築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114800"/>
            <a:ext cx="2743200" cy="82296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複合効果：</a:t>
            </a:r>
            <a:br/>
            <a:r>
              <a:t>↑ 世代の重なり</a:t>
            </a:r>
            <a:br/>
            <a:r>
              <a:t>↓ 減少のスピード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60920" y="4526280"/>
            <a:ext cx="68580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955279" y="3474720"/>
            <a:ext cx="3474720" cy="1371600"/>
          </a:xfrm>
          <a:prstGeom prst="roundRect">
            <a:avLst/>
          </a:prstGeom>
          <a:solidFill>
            <a:srgbClr val="0044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成果：</a:t>
            </a:r>
            <a:br/>
            <a:r>
              <a:t>• 人口転換のペースを</a:t>
            </a:r>
            <a:br/>
            <a:r>
              <a:t>  管理</a:t>
            </a:r>
            <a:br/>
            <a:r>
              <a:t>• 制度的適応のための</a:t>
            </a:r>
            <a:br/>
            <a:r>
              <a:t>  時間確保</a:t>
            </a:r>
            <a:br/>
            <a:r>
              <a:t>• 持続可能なSLP経路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931920" y="4983480"/>
            <a:ext cx="1097280" cy="22860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943600" y="4983480"/>
            <a:ext cx="0" cy="22860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6858000" y="4983480"/>
            <a:ext cx="731520" cy="22860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