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noFill/>
          <a:xfrm>
            <a:off x="457200" y="182880"/>
            <a:ext cx="11247120" cy="5486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Figure 1. Model vs Observed Population: Six Representative Countries (1970–2023)</a:t>
            </a:r>
          </a:p>
        </p:txBody>
      </p:sp>
      <p:pic>
        <p:nvPicPr>
          <p:cNvPr id="3" name="Picture 2" descr="fig1_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128" y="914400"/>
            <a:ext cx="915143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noFill/>
          <a:xfrm>
            <a:off x="457200" y="6126480"/>
            <a:ext cx="11247120" cy="64008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Dynamic model (blue dashed) updates parameters every 10 years; static model (red dotted) uses fixed 1970 parameters. Black line = UN WPP 2024 estimates. Countries: Japan, China, USA, Korea, Germany, DRC.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noFill/>
          <a:xfrm>
            <a:off x="457200" y="182880"/>
            <a:ext cx="11247120" cy="5486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Figure 2. Model Validation Across All 40 Countries</a:t>
            </a:r>
          </a:p>
        </p:txBody>
      </p:sp>
      <p:pic>
        <p:nvPicPr>
          <p:cNvPr id="3" name="Picture 2" descr="fig2_all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977" y="914400"/>
            <a:ext cx="396573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noFill/>
          <a:xfrm>
            <a:off x="457200" y="6126480"/>
            <a:ext cx="11247120" cy="64008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Dynamic model MAPE shown in upper-right corner of each panel. Countries sorted alphabetically. 30 of 40 countries achieve MAPE &lt; 10%; 20 countries &lt; 5%.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noFill/>
          <a:xfrm>
            <a:off x="457200" y="182880"/>
            <a:ext cx="11247120" cy="5486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Figure 3. Static Model MAPE (%) by Country and Base Year</a:t>
            </a:r>
          </a:p>
        </p:txBody>
      </p:sp>
      <p:pic>
        <p:nvPicPr>
          <p:cNvPr id="3" name="Picture 2" descr="fig3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018" y="914400"/>
            <a:ext cx="3065658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noFill/>
          <a:xfrm>
            <a:off x="457200" y="6126480"/>
            <a:ext cx="11247120" cy="64008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Greener cells indicate better fit; redder cells indicate poorer fit. Scale capped at 30%. Fit improves with more recent base years as expected.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noFill/>
          <a:xfrm>
            <a:off x="457200" y="182880"/>
            <a:ext cx="11247120" cy="5486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Figure 4. Static vs Dynamic Model Comparison</a:t>
            </a:r>
          </a:p>
        </p:txBody>
      </p:sp>
      <p:pic>
        <p:nvPicPr>
          <p:cNvPr id="3" name="Picture 2" descr="fig4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93" y="914400"/>
            <a:ext cx="10133107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noFill/>
          <a:xfrm>
            <a:off x="457200" y="6126480"/>
            <a:ext cx="11247120" cy="64008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Left: MAPE by country. Right: final population ratio (model/observed in 2023). Dynamic model consistently outperforms static variant with ~2x improvement in median MAPE.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noFill/>
          <a:xfrm>
            <a:off x="457200" y="182880"/>
            <a:ext cx="11247120" cy="5486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Figure 5. Model Bias Analysis (Base Year 2000)</a:t>
            </a:r>
          </a:p>
        </p:txBody>
      </p:sp>
      <p:pic>
        <p:nvPicPr>
          <p:cNvPr id="3" name="Picture 2" descr="fig5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14400"/>
            <a:ext cx="10515600" cy="34751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noFill/>
          <a:xfrm>
            <a:off x="457200" y="6126480"/>
            <a:ext cx="11247120" cy="64008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(A) Fit vs TFR; (B) Fit vs life expectancy; (C) Bias vs MAC. No systematic relationship observed, suggesting robustness across demographic contexts.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noFill/>
          <a:xfrm>
            <a:off x="457200" y="182880"/>
            <a:ext cx="11247120" cy="5486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222222"/>
                </a:solidFill>
              </a:defRPr>
            </a:pPr>
            <a:r>
              <a:t>Figure 6. Endogenous Renewal Model: Structure and Data Flow</a:t>
            </a:r>
          </a:p>
        </p:txBody>
      </p:sp>
      <p:sp>
        <p:nvSpPr>
          <p:cNvPr id="3" name="TextBox 2"/>
          <p:cNvSpPr txBox="1"/>
          <p:nvPr/>
        </p:nvSpPr>
        <p:spPr>
          <a:noFill/>
          <a:xfrm>
            <a:off x="457200" y="685800"/>
            <a:ext cx="11247120" cy="36576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888888"/>
                </a:solidFill>
              </a:defRPr>
            </a:pPr>
            <a:r>
              <a:t>(Editable diagram — all shapes can be moved, resized, and recolored)</a:t>
            </a:r>
          </a:p>
        </p:txBody>
      </p:sp>
      <p:sp>
        <p:nvSpPr>
          <p:cNvPr id="4" name="TextBox 3"/>
          <p:cNvSpPr txBox="1"/>
          <p:nvPr/>
        </p:nvSpPr>
        <p:spPr>
          <a:noFill/>
          <a:xfrm>
            <a:off x="274320" y="1143000"/>
            <a:ext cx="2743200" cy="274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84400"/>
                </a:solidFill>
              </a:defRPr>
            </a:pPr>
            <a:r>
              <a:t>INPUT PARAMETERS</a:t>
            </a:r>
          </a:p>
        </p:txBody>
      </p:sp>
      <p:sp>
        <p:nvSpPr>
          <p:cNvPr id="13" name="TextBox 12"/>
          <p:cNvSpPr txBox="1"/>
          <p:nvPr/>
        </p:nvSpPr>
        <p:spPr>
          <a:noFill/>
          <a:xfrm>
            <a:off x="274320" y="2514600"/>
            <a:ext cx="2743200" cy="274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5588"/>
                </a:solidFill>
              </a:defRPr>
            </a:pPr>
            <a:r>
              <a:t>MODEL COMPONENTS</a:t>
            </a:r>
          </a:p>
        </p:txBody>
      </p:sp>
      <p:sp>
        <p:nvSpPr>
          <p:cNvPr id="22" name="TextBox 21"/>
          <p:cNvSpPr txBox="1"/>
          <p:nvPr/>
        </p:nvSpPr>
        <p:spPr>
          <a:noFill/>
          <a:xfrm>
            <a:off x="274320" y="3977639"/>
            <a:ext cx="2743200" cy="274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6633"/>
                </a:solidFill>
              </a:defRPr>
            </a:pPr>
            <a:r>
              <a:t>CORE ENGINE</a:t>
            </a:r>
          </a:p>
        </p:txBody>
      </p:sp>
      <p:sp>
        <p:nvSpPr>
          <p:cNvPr id="25" name="TextBox 24"/>
          <p:cNvSpPr txBox="1"/>
          <p:nvPr/>
        </p:nvSpPr>
        <p:spPr>
          <a:noFill/>
          <a:xfrm>
            <a:off x="274320" y="5257800"/>
            <a:ext cx="2743200" cy="274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80044"/>
                </a:solidFill>
              </a:defRPr>
            </a:pPr>
            <a:r>
              <a:t>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011680" cy="64008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TFR</a:t>
            </a:r>
            <a:br/>
            <a:r>
              <a:t>(Total Fertility Rate)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63040"/>
            <a:ext cx="2011680" cy="64008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e₀</a:t>
            </a:r>
            <a:br/>
            <a:r>
              <a:t>(Life Expectancy)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463040"/>
            <a:ext cx="2011680" cy="64008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MAC</a:t>
            </a:r>
            <a:br/>
            <a:r>
              <a:t>(Mean Age at</a:t>
            </a:r>
            <a:br/>
            <a:r>
              <a:t>Childbearing)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63040"/>
            <a:ext cx="2011680" cy="64008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σ</a:t>
            </a:r>
            <a:br/>
            <a:r>
              <a:t>(Fertility Schedule</a:t>
            </a:r>
            <a:br/>
            <a:r>
              <a:t>Width)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63040" y="2148840"/>
            <a:ext cx="0" cy="50292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49039" y="2148840"/>
            <a:ext cx="0" cy="50292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35040" y="2148840"/>
            <a:ext cx="0" cy="50292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21040" y="2148840"/>
            <a:ext cx="0" cy="50292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4320" y="2788920"/>
            <a:ext cx="2377440" cy="77724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Normal Fertility</a:t>
            </a:r>
            <a:br/>
            <a:r>
              <a:t>Schedule</a:t>
            </a:r>
            <a:br/>
            <a:r>
              <a:t>ASFR ~ N(MAC, σ²)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788920"/>
            <a:ext cx="2103120" cy="77724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Gompertz Survival</a:t>
            </a:r>
            <a:br/>
            <a:r>
              <a:t>S(x) = exp[-(a/b)</a:t>
            </a:r>
            <a:br/>
            <a:r>
              <a:t>×(exp(bx)-1)]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788920"/>
            <a:ext cx="2377440" cy="77724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Age-Specific</a:t>
            </a:r>
            <a:br/>
            <a:r>
              <a:t>Fertility Rate</a:t>
            </a:r>
            <a:br/>
            <a:r>
              <a:t>f(x) = TFR × φ(x)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788920"/>
            <a:ext cx="1828800" cy="77724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Calibration</a:t>
            </a:r>
            <a:br/>
            <a:r>
              <a:t>a: e₀ = ∫S(x)dx</a:t>
            </a:r>
            <a:br/>
            <a:r>
              <a:t>b = 0.085 (fixed)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63040" y="3611880"/>
            <a:ext cx="3566160" cy="5943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69080" y="3611880"/>
            <a:ext cx="960120" cy="5943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400800" y="3611880"/>
            <a:ext cx="274320" cy="5943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858000" y="3611880"/>
            <a:ext cx="2286000" cy="5943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57600" y="4160520"/>
            <a:ext cx="4846320" cy="82296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Endogenous Renewal: P(t+1)</a:t>
            </a:r>
            <a:br/>
            <a:r>
              <a:t>Births = Σ P_x(t) × f × ASFR(x)  |  Aging: P_{x+1}(t+1) = P_x(t) × s(x)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5029200"/>
            <a:ext cx="0" cy="41148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383280" y="5440680"/>
            <a:ext cx="5394960" cy="640080"/>
          </a:xfrm>
          <a:prstGeom prst="roundRect">
            <a:avLst/>
          </a:prstGeom>
          <a:solidFill>
            <a:srgbClr val="C4418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Simultaneously Living Population (SLP)</a:t>
            </a:r>
            <a:br/>
            <a:r>
              <a:t>P(t) = [P₀(t), P₁(t), ..., P₁₀₀(t)]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4160520"/>
            <a:ext cx="2103120" cy="822960"/>
          </a:xfrm>
          <a:prstGeom prst="roundRect">
            <a:avLst/>
          </a:prstGeom>
          <a:solidFill>
            <a:srgbClr val="9966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Dynamic Update</a:t>
            </a:r>
            <a:br/>
            <a:r>
              <a:t>(every 10 years):</a:t>
            </a:r>
            <a:br/>
            <a:r>
              <a:t>TFR, e₀, MAC ← WPP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8549640" y="4572000"/>
            <a:ext cx="10515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01200" y="5486400"/>
            <a:ext cx="2103120" cy="640080"/>
          </a:xfrm>
          <a:prstGeom prst="roundRect">
            <a:avLst/>
          </a:prstGeom>
          <a:solidFill>
            <a:srgbClr val="88888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 WPP 2024</a:t>
            </a:r>
            <a:br/>
            <a:r>
              <a:t>(Validation Data)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noFill/>
          <a:xfrm>
            <a:off x="457200" y="182880"/>
            <a:ext cx="11247120" cy="5486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222222"/>
                </a:solidFill>
              </a:defRPr>
            </a:pPr>
            <a:r>
              <a:t>Figure 7. The Tempo Effect on Simultaneously Living Population</a:t>
            </a:r>
          </a:p>
        </p:txBody>
      </p:sp>
      <p:sp>
        <p:nvSpPr>
          <p:cNvPr id="3" name="TextBox 2"/>
          <p:cNvSpPr txBox="1"/>
          <p:nvPr/>
        </p:nvSpPr>
        <p:spPr>
          <a:noFill/>
          <a:xfrm>
            <a:off x="457200" y="685800"/>
            <a:ext cx="11247120" cy="36576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888888"/>
                </a:solidFill>
              </a:defRPr>
            </a:pPr>
            <a:r>
              <a:t>(Editable diagram — all shapes can be moved, resized, and recolored)</a:t>
            </a:r>
          </a:p>
        </p:txBody>
      </p:sp>
      <p:sp>
        <p:nvSpPr>
          <p:cNvPr id="4" name="TextBox 3"/>
          <p:cNvSpPr txBox="1"/>
          <p:nvPr/>
        </p:nvSpPr>
        <p:spPr>
          <a:noFill/>
          <a:xfrm>
            <a:off x="457200" y="1097280"/>
            <a:ext cx="5029200" cy="36576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66CC"/>
                </a:solidFill>
              </a:defRPr>
            </a:pPr>
            <a:r>
              <a:t>Scenario A: MAC = 25 years</a:t>
            </a:r>
          </a:p>
        </p:txBody>
      </p:sp>
      <p:sp>
        <p:nvSpPr>
          <p:cNvPr id="9" name="TextBox 8"/>
          <p:cNvSpPr txBox="1"/>
          <p:nvPr/>
        </p:nvSpPr>
        <p:spPr>
          <a:noFill/>
          <a:xfrm>
            <a:off x="640080" y="4297680"/>
            <a:ext cx="4114800" cy="45720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66CC"/>
                </a:solidFill>
              </a:defRPr>
            </a:pPr>
            <a:r>
              <a:t>→ 4 generations simultaneously alive</a:t>
            </a:r>
            <a:br/>
            <a:r>
              <a:t>→ Higher SLP</a:t>
            </a:r>
          </a:p>
        </p:txBody>
      </p:sp>
      <p:sp>
        <p:nvSpPr>
          <p:cNvPr id="10" name="TextBox 9"/>
          <p:cNvSpPr txBox="1"/>
          <p:nvPr/>
        </p:nvSpPr>
        <p:spPr>
          <a:noFill/>
          <a:xfrm>
            <a:off x="6400800" y="1097280"/>
            <a:ext cx="5029200" cy="36576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CC3300"/>
                </a:solidFill>
              </a:defRPr>
            </a:pPr>
            <a:r>
              <a:t>Scenario B: MAC = 30 years</a:t>
            </a:r>
          </a:p>
        </p:txBody>
      </p:sp>
      <p:sp>
        <p:nvSpPr>
          <p:cNvPr id="15" name="TextBox 14"/>
          <p:cNvSpPr txBox="1"/>
          <p:nvPr/>
        </p:nvSpPr>
        <p:spPr>
          <a:noFill/>
          <a:xfrm>
            <a:off x="6583680" y="4297680"/>
            <a:ext cx="4572000" cy="45720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CC3300"/>
                </a:solidFill>
              </a:defRPr>
            </a:pPr>
            <a:r>
              <a:t>→ ~3.3 generations simultaneously alive</a:t>
            </a:r>
            <a:br/>
            <a:r>
              <a:t>→ Lower SLP (≈1/6 reduction)</a:t>
            </a:r>
          </a:p>
        </p:txBody>
      </p:sp>
      <p:sp>
        <p:nvSpPr>
          <p:cNvPr id="16" name="TextBox 15"/>
          <p:cNvSpPr txBox="1"/>
          <p:nvPr/>
        </p:nvSpPr>
        <p:spPr>
          <a:noFill/>
          <a:xfrm>
            <a:off x="640080" y="4937760"/>
            <a:ext cx="4114800" cy="274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</a:defRPr>
            </a:pPr>
            <a:r>
              <a:t>*Same TFR in both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4114800" cy="502920"/>
          </a:xfrm>
          <a:prstGeom prst="roundRect">
            <a:avLst/>
          </a:prstGeom>
          <a:solidFill>
            <a:srgbClr val="1B7A2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Gen 1 (age 75)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4114800" cy="50292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Gen 2 (age 50)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39"/>
            <a:ext cx="4114800" cy="50292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Gen 3 (age 25)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4114800" cy="502920"/>
          </a:xfrm>
          <a:prstGeom prst="roundRect">
            <a:avLst/>
          </a:prstGeom>
          <a:solidFill>
            <a:srgbClr val="C4418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Gen 4 (age 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554480"/>
            <a:ext cx="4114800" cy="502920"/>
          </a:xfrm>
          <a:prstGeom prst="roundRect">
            <a:avLst/>
          </a:prstGeom>
          <a:solidFill>
            <a:srgbClr val="1B7A2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Gen 1 (age 90)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194560"/>
            <a:ext cx="4114800" cy="50292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Gen 2 (age 60)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834639"/>
            <a:ext cx="4114800" cy="50292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Gen 3 (age 30)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474720"/>
            <a:ext cx="2743200" cy="502920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Gen 4 (age 0) — partial*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029200" y="2560320"/>
            <a:ext cx="1188720" cy="73152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+5 years</a:t>
            </a:r>
            <a:br/>
            <a:r>
              <a:t>MAC shift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303520"/>
            <a:ext cx="9418320" cy="1097280"/>
          </a:xfrm>
          <a:prstGeom prst="roundRect">
            <a:avLst/>
          </a:prstGeom>
          <a:solidFill>
            <a:srgbClr val="2E2E5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KEY INSIGHT: A 5-year increase in MAC reduces SLP by ~1/6,</a:t>
            </a:r>
            <a:br/>
            <a:r>
              <a:t>independent of TFR. This controls the SPEED of demographic transition,</a:t>
            </a:r>
            <a:br/>
            <a:r>
              <a:t>compressing the time available for institutional adaptation.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noFill/>
          <a:xfrm>
            <a:off x="457200" y="182880"/>
            <a:ext cx="11247120" cy="5486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222222"/>
                </a:solidFill>
              </a:defRPr>
            </a:pPr>
            <a:r>
              <a:t>Figure 8. Policy Framework: Tempo-Sensitive Population Management</a:t>
            </a:r>
          </a:p>
        </p:txBody>
      </p:sp>
      <p:sp>
        <p:nvSpPr>
          <p:cNvPr id="3" name="TextBox 2"/>
          <p:cNvSpPr txBox="1"/>
          <p:nvPr/>
        </p:nvSpPr>
        <p:spPr>
          <a:noFill/>
          <a:xfrm>
            <a:off x="457200" y="685800"/>
            <a:ext cx="11247120" cy="36576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888888"/>
                </a:solidFill>
              </a:defRPr>
            </a:pPr>
            <a:r>
              <a:t>(Editable diagram — all shapes can be moved, resized, and recolored)</a:t>
            </a:r>
          </a:p>
        </p:txBody>
      </p:sp>
      <p:sp>
        <p:nvSpPr>
          <p:cNvPr id="4" name="TextBox 3"/>
          <p:cNvSpPr txBox="1"/>
          <p:nvPr/>
        </p:nvSpPr>
        <p:spPr>
          <a:noFill/>
          <a:xfrm>
            <a:off x="457200" y="1097280"/>
            <a:ext cx="5486400" cy="3200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CC3300"/>
                </a:solidFill>
              </a:defRPr>
            </a:pPr>
            <a:r>
              <a:t>CURRENT APPROACH (Quantum-only)</a:t>
            </a:r>
          </a:p>
        </p:txBody>
      </p:sp>
      <p:sp>
        <p:nvSpPr>
          <p:cNvPr id="12" name="TextBox 11"/>
          <p:cNvSpPr txBox="1"/>
          <p:nvPr/>
        </p:nvSpPr>
        <p:spPr>
          <a:noFill/>
          <a:xfrm>
            <a:off x="457200" y="2743200"/>
            <a:ext cx="5486400" cy="3200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6633"/>
                </a:solidFill>
              </a:defRPr>
            </a:pPr>
            <a:r>
              <a:t>PROPOSED APPROACH (Quantum + Tempo)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286000" cy="731520"/>
          </a:xfrm>
          <a:prstGeom prst="roundRect">
            <a:avLst/>
          </a:prstGeom>
          <a:solidFill>
            <a:srgbClr val="CC555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Pronatalist</a:t>
            </a:r>
            <a:br/>
            <a:r>
              <a:t>Policies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88920" y="1828800"/>
            <a:ext cx="5943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83280" y="1463040"/>
            <a:ext cx="2286000" cy="731520"/>
          </a:xfrm>
          <a:prstGeom prst="roundRect">
            <a:avLst/>
          </a:prstGeom>
          <a:solidFill>
            <a:srgbClr val="CC555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Raise TFR</a:t>
            </a:r>
            <a:br/>
            <a:r>
              <a:t>(↑ Births)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15000" y="1828800"/>
            <a:ext cx="5943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9360" y="1463040"/>
            <a:ext cx="2560320" cy="731520"/>
          </a:xfrm>
          <a:prstGeom prst="roundRect">
            <a:avLst/>
          </a:prstGeom>
          <a:solidFill>
            <a:srgbClr val="CC555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Increase</a:t>
            </a:r>
            <a:br/>
            <a:r>
              <a:t>Population Size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15400" y="1828800"/>
            <a:ext cx="5943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09760" y="1463040"/>
            <a:ext cx="2286000" cy="731520"/>
          </a:xfrm>
          <a:prstGeom prst="roundRect">
            <a:avLst/>
          </a:prstGeom>
          <a:solidFill>
            <a:srgbClr val="FF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80000"/>
                </a:solidFill>
              </a:defRPr>
            </a:pPr>
            <a:r>
              <a:t>Overestimates</a:t>
            </a:r>
            <a:br/>
            <a:r>
              <a:t>impact</a:t>
            </a:r>
            <a:br/>
            <a:r>
              <a:t>(ignores tempo)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2286000" cy="73152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Quantum:</a:t>
            </a:r>
            <a:br/>
            <a:r>
              <a:t>Raise TFR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8920" y="3566160"/>
            <a:ext cx="1965960" cy="8229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4206240"/>
            <a:ext cx="2286000" cy="73152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Tempo:</a:t>
            </a:r>
            <a:br/>
            <a:r>
              <a:t>Lower MAC/AFB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88920" y="4572000"/>
            <a:ext cx="19659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17520" y="5212080"/>
            <a:ext cx="1828800" cy="594360"/>
          </a:xfrm>
          <a:prstGeom prst="roundRect">
            <a:avLst/>
          </a:prstGeom>
          <a:solidFill>
            <a:srgbClr val="66AAD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Affordable</a:t>
            </a:r>
            <a:br/>
            <a:r>
              <a:t>Housing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5212080"/>
            <a:ext cx="1828800" cy="594360"/>
          </a:xfrm>
          <a:prstGeom prst="roundRect">
            <a:avLst/>
          </a:prstGeom>
          <a:solidFill>
            <a:srgbClr val="66AAD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Universal</a:t>
            </a:r>
            <a:br/>
            <a:r>
              <a:t>Childcare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5212080"/>
            <a:ext cx="2103120" cy="594360"/>
          </a:xfrm>
          <a:prstGeom prst="roundRect">
            <a:avLst/>
          </a:prstGeom>
          <a:solidFill>
            <a:srgbClr val="66AAD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Educational</a:t>
            </a:r>
            <a:br/>
            <a:r>
              <a:t>Pathway Reform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114800"/>
            <a:ext cx="2743200" cy="82296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Combined Effect:</a:t>
            </a:r>
            <a:br/>
            <a:r>
              <a:t>↑ Generational Overlap</a:t>
            </a:r>
            <a:br/>
            <a:r>
              <a:t>↓ Speed of Decline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60920" y="4526280"/>
            <a:ext cx="68580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955279" y="3474720"/>
            <a:ext cx="3474720" cy="1371600"/>
          </a:xfrm>
          <a:prstGeom prst="roundRect">
            <a:avLst/>
          </a:prstGeom>
          <a:solidFill>
            <a:srgbClr val="0044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OUTCOME:</a:t>
            </a:r>
            <a:br/>
            <a:r>
              <a:t>• Managed pace of</a:t>
            </a:r>
            <a:br/>
            <a:r>
              <a:t>  demographic transition</a:t>
            </a:r>
            <a:br/>
            <a:r>
              <a:t>• Time for institutional</a:t>
            </a:r>
            <a:br/>
            <a:r>
              <a:t>  adaptation</a:t>
            </a:r>
            <a:br/>
            <a:r>
              <a:t>• Sustainable SLP path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931920" y="4983480"/>
            <a:ext cx="1097280" cy="22860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943600" y="4983480"/>
            <a:ext cx="0" cy="22860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6858000" y="4983480"/>
            <a:ext cx="731520" cy="22860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