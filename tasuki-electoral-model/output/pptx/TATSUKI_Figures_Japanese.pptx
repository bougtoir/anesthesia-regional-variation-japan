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8892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62356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>
            <a:off x="7132320" y="2011680"/>
            <a:ext cx="182880" cy="685800"/>
          </a:xfrm>
          <a:prstGeom prst="down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 Arrow 4"/>
          <p:cNvSpPr/>
          <p:nvPr/>
        </p:nvSpPr>
        <p:spPr>
          <a:xfrm>
            <a:off x="562356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8892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1444752" y="2011680"/>
            <a:ext cx="219456" cy="685800"/>
          </a:xfrm>
          <a:prstGeom prst="up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377440" cy="8686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フェーズ1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公約宣言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w₁, w₂, …, wₖ (Σ=1)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377440" cy="8686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選挙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（加重投票）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377440" cy="8686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フェーズ3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任期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（中間評価: O/P/E）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2377440" cy="868680"/>
          </a:xfrm>
          <a:prstGeom prst="roundRect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フェーズ6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信任係数更新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τ(S) → 次回選挙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377440" cy="8686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説明責任得点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S = Σ wⱼ·fⱼ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377440" cy="8686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フェーズ4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実現度評価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fⱼ ∈ [0,1] 公約ごと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図1. TATSUKI 概念的概要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</a:rPr>
              <a:t>統合的知識に基づく信頼調整型評価システム（襟）— 6フェーズサイクル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1E63"/>
                </a:solidFill>
              </a:rPr>
              <a:t>次の
サイクル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主要数式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説明責任得点:  Sᶜ = Σ wⱼ · fⱼ  (Σwⱼ =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信任係数:  τᶜ⁽ᵗ⁺¹⁾ = ω(Sᶜ⁽ᵗ⁾)  ω: [0,1] → [τₘᵢₙ, τₘₐₓ]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有効得票数:  V_eff(c) = τᶜ · nᶜ  (候補者cの生票数)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図1. TATSUKIメカニズムの概念的概要。各選挙サイクルの6フェーズを示す：公約宣言、選挙、任期、実現度評価、説明責任得点算出、信任係数更新。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図2. 影響関数族 ω(S)</a:t>
            </a:r>
          </a:p>
        </p:txBody>
      </p:sp>
      <p:pic>
        <p:nvPicPr>
          <p:cNvPr id="3" name="Picture 2" descr="fig2_influence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図2. (a) 説明責任得点Sから信任係数τへの異なる影響関数仕様。(b) 凹関数仕様における[τ_min, τ_max]範囲に対するパラメータ感度。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図3. ベースラインシミュレーション結果</a:t>
            </a:r>
          </a:p>
        </p:txBody>
      </p:sp>
      <p:pic>
        <p:nvPicPr>
          <p:cNvPr id="3" name="Picture 2" descr="fig3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図3. (a) 平均説明責任得点の推移。(b) 候補者タイプの進化動態。(c) 信任係数分布のシフト。(d) システム間の有権者厚生比較。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図4. 敵対的ロバスト性分析</a:t>
            </a:r>
          </a:p>
        </p:txBody>
      </p:sp>
      <p:pic>
        <p:nvPicPr>
          <p:cNvPr id="3" name="Picture 2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442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図4. (a) 戦略タイプと影響関数別の攻略可能性指標。(b) 敵対的戦略探索の遺伝的アルゴリズム収束。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図5. 感度分析</a:t>
            </a:r>
          </a:p>
        </p:txBody>
      </p:sp>
      <p:pic>
        <p:nvPicPr>
          <p:cNvPr id="3" name="Picture 2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図5. (a) τ_minとτ_maxの関数としての均衡説明責任得点のヒートマップ。(b) 候補者プールサイズ別のスケーラビリティ分析。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7724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伝統的
民主主義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急進的
改革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説明責任
重視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メカニズム
デザイン</a:t>
            </a:r>
          </a:p>
        </p:txBody>
      </p:sp>
      <p:sp>
        <p:nvSpPr>
          <p:cNvPr id="7" name="Oval 6"/>
          <p:cNvSpPr/>
          <p:nvPr/>
        </p:nvSpPr>
        <p:spPr>
          <a:xfrm>
            <a:off x="1284732" y="2111912"/>
            <a:ext cx="502920" cy="502920"/>
          </a:xfrm>
          <a:prstGeom prst="ellipse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4337772"/>
            <a:ext cx="457200" cy="457200"/>
          </a:xfrm>
          <a:prstGeom prst="ellipse">
            <a:avLst/>
          </a:prstGeom>
          <a:solidFill>
            <a:srgbClr val="79554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1176" y="3521846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7348" y="2111912"/>
            <a:ext cx="502920" cy="5029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2" y="2134772"/>
            <a:ext cx="457200" cy="457200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4516" y="2111912"/>
            <a:ext cx="502920" cy="5029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40" y="1318846"/>
            <a:ext cx="457200" cy="45720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7700" y="4876213"/>
            <a:ext cx="685800" cy="685800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</a:rPr>
              <a:t>標準選挙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40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5548"/>
                </a:solidFill>
              </a:rPr>
              <a:t>回顧的投票
(Fiorina)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024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</a:rPr>
              <a:t>Barro-Ferejohn
モデル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96F3"/>
                </a:solidFill>
              </a:rPr>
              <a:t>Liquid
Democracy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7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CD4"/>
                </a:solidFill>
              </a:rPr>
              <a:t>加重投票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27B0"/>
                </a:solidFill>
              </a:rPr>
              <a:t>Quadratic
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821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800"/>
                </a:solidFill>
              </a:rPr>
              <a:t>Futarchy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617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1E63"/>
                </a:solidFill>
              </a:rPr>
              <a:t>TATSUKI
(本論文)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図6. TATSUKIの理論的位置づけ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</a:rPr>
              <a:t>一人一票からの乖離度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822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←
回顧的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展望的
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図6. 既存の選挙制度改革提案に対するTATSUKIの位置づけ。横軸：OPOVからの乖離度。縦軸：時間的指向（回顧的〜展望的）。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図7. 実証的較正と反事実分析</a:t>
            </a:r>
          </a:p>
        </p:txBody>
      </p:sp>
      <p:pic>
        <p:nvPicPr>
          <p:cNvPr id="3" name="Picture 2" descr="fig7_empirical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図7. (a) Polimeterプロジェクトの公約実現スコア分布（N=1,050）。(b) 公約実現率の国際比較。(c) Trudeauの3議会期にTATSUKIを適用した反事実的信任係数軌跡。(d) 元のBeta分布と較正後Beta分布の比較。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