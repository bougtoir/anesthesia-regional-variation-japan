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Regional variation in anaesthesia practice across</a:t>
            </a:r>
            <a:br/>
            <a:r>
              <a:t>335 secondary medical areas in Japan</a:t>
            </a:r>
          </a:p>
          <a:p>
            <a:pPr algn="ctr">
              <a:defRPr sz="1600">
                <a:solidFill>
                  <a:srgbClr val="646464"/>
                </a:solidFill>
                <a:latin typeface="Arial"/>
              </a:defRPr>
            </a:pPr>
            <a:r>
              <a:t>A cross-sectional analysis of national claims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rial"/>
              </a:defRPr>
            </a:pPr>
            <a:r>
              <a:t>Table 1. Anaesthesia procedure codes analysed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6647" y="109728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00400"/>
                <a:gridCol w="4114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Code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Procedure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Clinical significance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SMAs with data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L008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Closed-circuit general anaesthesia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Primary indicator of GA volume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334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Epidural anaesthesia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Regional technique (alone or combined)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L003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Continuous epidural infusion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Direct indicator of GA+epidural combination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331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Spinal anaesthesia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Alternative to GA for suitable procedures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L009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Anaesthesia management fee 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Proxy for specialist anaesthesiologist staffing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314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Nerve block (inpatient)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Indicator of pain clinic activity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rial"/>
              </a:defRPr>
            </a:pPr>
            <a:r>
              <a:t>Table 2. Distribution of standardised claim ratios (national average = 100)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81047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914400"/>
                <a:gridCol w="914400"/>
                <a:gridCol w="91440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Code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Procedure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P10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P50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P90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CV (%)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L008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General anaesthesia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32.3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73.2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131.5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54.6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334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Epidural anaesthesia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7.6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73.9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184.0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83.2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L003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Continuous epidural infusion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19.0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73.1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150.0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64.9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331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Spinal anaesthesia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31.1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84.3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169.0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56.3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L009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Anaesthesia management fee 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32.5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79.1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149.1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57.2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314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Nerve block (inpatient)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23.4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72.2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174.7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72.1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t>Figure 1</a:t>
            </a:r>
          </a:p>
        </p:txBody>
      </p:sp>
      <p:pic>
        <p:nvPicPr>
          <p:cNvPr id="3" name="Picture 2" descr="en_map_L008_s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464" y="685800"/>
            <a:ext cx="4252767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  <a:latin typeface="Arial"/>
              </a:defRPr>
            </a:pPr>
            <a:r>
              <a:t>Figure 1. General anaesthesia (L008) standardised claim ratio by secondary medical area. Solid lines = prefectural boundaries; dashed lines = SMA boundaries. Northern Territories shown in white (no SMA designated).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t>Figure 2</a:t>
            </a:r>
          </a:p>
        </p:txBody>
      </p:sp>
      <p:pic>
        <p:nvPicPr>
          <p:cNvPr id="3" name="Picture 2" descr="en_map_univ_pres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358" y="685800"/>
            <a:ext cx="5952979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  <a:latin typeface="Arial"/>
              </a:defRPr>
            </a:pPr>
            <a:r>
              <a:t>Figure 2. University hospital presence by secondary medical area. Red circles indicate SMAs containing one or more university hospitals (64 of 335 SMAs).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t>Figure 3</a:t>
            </a:r>
          </a:p>
        </p:txBody>
      </p:sp>
      <p:pic>
        <p:nvPicPr>
          <p:cNvPr id="3" name="Picture 2" descr="en_map_L004_s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464" y="685800"/>
            <a:ext cx="4252767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  <a:latin typeface="Arial"/>
              </a:defRPr>
            </a:pPr>
            <a:r>
              <a:t>Figure 3. Spinal anaesthesia (L004) standardised claim ratio by secondary medical area.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t>Figure 4</a:t>
            </a:r>
          </a:p>
        </p:txBody>
      </p:sp>
      <p:pic>
        <p:nvPicPr>
          <p:cNvPr id="3" name="Picture 2" descr="en_map_L008_L004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825" y="685800"/>
            <a:ext cx="4182045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  <a:latin typeface="Arial"/>
              </a:defRPr>
            </a:pPr>
            <a:r>
              <a:t>Figure 4. Combined general + spinal anaesthesia (L008+L004) standardised claim ratio. Combining these codes neutralises audit-driven reclassification.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t>Figure 5</a:t>
            </a:r>
          </a:p>
        </p:txBody>
      </p:sp>
      <p:pic>
        <p:nvPicPr>
          <p:cNvPr id="3" name="Picture 2" descr="en_map_L003_s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597" y="685800"/>
            <a:ext cx="418050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  <a:latin typeface="Arial"/>
              </a:defRPr>
            </a:pPr>
            <a:r>
              <a:t>Figure 5. Continuous epidural infusion (L003) SCR — direct indicator of combined GA–epidural technique. CV=64.9%.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t>Figure 6</a:t>
            </a:r>
          </a:p>
        </p:txBody>
      </p:sp>
      <p:pic>
        <p:nvPicPr>
          <p:cNvPr id="3" name="Picture 2" descr="en_map_L003_L008_ratio_corr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825" y="685800"/>
            <a:ext cx="4182045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  <a:latin typeface="Arial"/>
              </a:defRPr>
            </a:pPr>
            <a:r>
              <a:t>Figure 6. L003/L008 ratio (combined epidural rate per GA case), adjusted for surgery volume.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t>Figure 7</a:t>
            </a:r>
          </a:p>
        </p:txBody>
      </p:sp>
      <p:pic>
        <p:nvPicPr>
          <p:cNvPr id="3" name="Picture 2" descr="3D_ratio_by_ane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007" y="685800"/>
            <a:ext cx="658368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  <a:latin typeface="Arial"/>
              </a:defRPr>
            </a:pPr>
            <a:r>
              <a:t>Figure 7. 3D extruded map: colour = L003/L008 ratio (combined epidural rate), height = anaesthesiologist count.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t>Figure 8</a:t>
            </a:r>
          </a:p>
        </p:txBody>
      </p:sp>
      <p:pic>
        <p:nvPicPr>
          <p:cNvPr id="3" name="Picture 2" descr="3D_L008_by_ane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007" y="685800"/>
            <a:ext cx="658368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  <a:latin typeface="Arial"/>
              </a:defRPr>
            </a:pPr>
            <a:r>
              <a:t>Figure 8. 3D extruded map: colour = L008 SCR (general anaesthesia volume), height = anaesthesiologist count.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Arial"/>
              </a:defRPr>
            </a:pPr>
            <a:r>
              <a:t>Figure 9</a:t>
            </a:r>
          </a:p>
        </p:txBody>
      </p:sp>
      <p:pic>
        <p:nvPicPr>
          <p:cNvPr id="3" name="Picture 2" descr="3D_ratio_by_surgery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007" y="685800"/>
            <a:ext cx="658368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05050"/>
                </a:solidFill>
                <a:latin typeface="Arial"/>
              </a:defRPr>
            </a:pPr>
            <a:r>
              <a:t>Figure 9. 3D extruded map: colour = L003/L008 ratio, height = GA per surgery ratio (L008/K-chapter SCR).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Arial"/>
              </a:defRPr>
            </a:pPr>
            <a:r>
              <a:t>STROBE Checklist (Cross-sectional study)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6647" y="1097280"/>
          <a:ext cx="10058400" cy="877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1148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Item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STROBE recommendation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Location in manuscript</a:t>
                      </a: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1a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Title and abstract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Title page and structured abstract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Informative abstract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Structured abstract with all required elements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Background/rationale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Introduction paragraphs 1–3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Objectives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Introduction paragraph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Study design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Methods: Study design and data sources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Setting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Methods: 335 SMAs, FY2022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6a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Participants/eligibility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N/A (ecological study)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Variables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Methods: Anaesthesia codes (Table 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Data sources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Methods: Study design and data sources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Bias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Methods: Sensitivity analyses; Discussion: Limitations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Study size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Methods: 335 SMAs, 47 prefectures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Quantitative variables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Methods: Statistical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Statistical methods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Methods: Statistical analysis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Participants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Results: 334 SMAs with L008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Descriptive data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Results: Table 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Outcome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Results: Regional variation section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Main results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Results: Sensitivity analyses 1–3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Other analyses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Results: Combined SCR, Pain clinic spillover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Key results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Discussion: Principal findings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Limitations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Discussion: Strengths and limitations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Interpretation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Discussion: Comparison with literature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Generalisability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Discussion: Conclusions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Funding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[To be completed]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