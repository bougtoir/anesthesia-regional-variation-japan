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/>
            </a:pPr>
            <a:r>
              <a:t>Fig. 1: PI-DC-DVS Pipeline Architecture</a:t>
            </a:r>
          </a:p>
        </p:txBody>
      </p:sp>
      <p:pic>
        <p:nvPicPr>
          <p:cNvPr id="3" name="Picture 2" descr="fig2_g3_pipeline_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4734" y="914400"/>
            <a:ext cx="7062226" cy="50292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603504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/>
            </a:pPr>
            <a:r>
              <a:t>System architecture of the PI-DC-DVS noise inverse problem pipeline. Four stages: (1) noise forward model; (2) Bayesian inverse problem; (3) residual generation; (4) calibration and verification.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/>
            </a:pPr>
            <a:r>
              <a:t>Fig. 2: Research Gap Map</a:t>
            </a:r>
          </a:p>
        </p:txBody>
      </p:sp>
      <p:pic>
        <p:nvPicPr>
          <p:cNvPr id="3" name="Picture 2" descr="fig1_gap_map_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01394" y="914400"/>
            <a:ext cx="4788906" cy="50292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603504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/>
            </a:pPr>
            <a:r>
              <a:t>Gap map showing four domains (A-D) and identified research gaps. Cal-6 satellite trail calibration is highlighted as a novel contribution.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/>
            </a:pPr>
            <a:r>
              <a:t>Fig. 3: Systematic Evaluation — 3-Method Comparison</a:t>
            </a:r>
          </a:p>
        </p:txBody>
      </p:sp>
      <p:pic>
        <p:nvPicPr>
          <p:cNvPr id="3" name="Picture 2" descr="fig5_systematic_evalu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54460" y="914400"/>
            <a:ext cx="6082774" cy="50292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603504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/>
            </a:pPr>
            <a:r>
              <a:t>Systematic evaluation on 20 EBSSA recordings. Four-panel boxplot: NRR, SPR, F1, AUC. Fano filter achieves best balance (AUC = 0.866).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/>
            </a:pPr>
            <a:r>
              <a:t>Fig. 4: A5 Noise Rate Simulation</a:t>
            </a:r>
          </a:p>
        </p:txBody>
      </p:sp>
      <p:pic>
        <p:nvPicPr>
          <p:cNvPr id="3" name="Picture 2" descr="fig6_a5_simul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047" y="914400"/>
            <a:ext cx="10515600" cy="3141023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603504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/>
            </a:pPr>
            <a:r>
              <a:t>A5-based noise rate simulation: noise rate, SNR improvement, and factor map across temperature–illuminance space. Mean 5.4×, max 10.0×.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/>
            </a:pPr>
            <a:r>
              <a:t>Fig. 5: Per-Recording Noise Removal Comparison</a:t>
            </a:r>
          </a:p>
        </p:txBody>
      </p:sp>
      <p:pic>
        <p:nvPicPr>
          <p:cNvPr id="3" name="Picture 2" descr="fig7_per_recording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047" y="914400"/>
            <a:ext cx="10515600" cy="43323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603504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/>
            </a:pPr>
            <a:r>
              <a:t>Per-recording noise removal rate comparison. Fano filter (blue) consistently outperforms temporal filter (orange).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/>
            </a:pPr>
            <a:r>
              <a:t>Fig. 6: Proof-of-Concept Demonstration</a:t>
            </a:r>
          </a:p>
        </p:txBody>
      </p:sp>
      <p:pic>
        <p:nvPicPr>
          <p:cNvPr id="3" name="Picture 2" descr="fig3_noise_inverse_dem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08680" y="914400"/>
            <a:ext cx="6974335" cy="50292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603504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/>
            </a:pPr>
            <a:r>
              <a:t>Noise inverse problem demonstration on EBSSA data. 90.3% noise removal with satellite trajectory clearly visible.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/>
            </a:pPr>
            <a:r>
              <a:t>Fig. 7: SNR Improvement Analysis</a:t>
            </a:r>
          </a:p>
        </p:txBody>
      </p:sp>
      <p:pic>
        <p:nvPicPr>
          <p:cNvPr id="3" name="Picture 2" descr="fig4_sn_improvem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047" y="914400"/>
            <a:ext cx="10515600" cy="3366183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603504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/>
            </a:pPr>
            <a:r>
              <a:t>SNR improvement analysis: Fano factor spatial map, temporal dynamics, and per-pixel SNR distribution before and after noise subtraction.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