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latin typeface="Times New Roman"/>
              </a:rPr>
              <a:t>Figure 1</a:t>
            </a:r>
          </a:p>
        </p:txBody>
      </p:sp>
      <p:pic>
        <p:nvPicPr>
          <p:cNvPr id="3" name="Picture 2" descr="fig1_energy_balanc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012" y="1005840"/>
            <a:ext cx="5695671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latin typeface="Times New Roman"/>
              </a:rPr>
              <a:t>Figure 1. Energy balance contour map showing generated power (MW) as a function of effective head and discharge. The red dashed line indicates the pumping power requirement (3.68 MW). The green marker shows the reference scenario (H = 100 m, Q = 50 m³/s).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latin typeface="Times New Roman"/>
              </a:rPr>
              <a:t>Figure 2</a:t>
            </a:r>
          </a:p>
        </p:txBody>
      </p:sp>
      <p:pic>
        <p:nvPicPr>
          <p:cNvPr id="3" name="Picture 2" descr="fig2_aquifer_storag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995" y="1005840"/>
            <a:ext cx="7065704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latin typeface="Times New Roman"/>
              </a:rPr>
              <a:t>Figure 2. Aquifer storage capacity contours (10⁶ m³) as a function of recharge area and water table drawdown, assuming a specific yield of 0.2. The dashed line indicates the 2018 flood volume (15.3 × 10⁶ m³). The green marker shows the reference scenario.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latin typeface="Times New Roman"/>
              </a:rPr>
              <a:t>Figure 3</a:t>
            </a:r>
          </a:p>
        </p:txBody>
      </p:sp>
      <p:pic>
        <p:nvPicPr>
          <p:cNvPr id="3" name="Picture 2" descr="fig3_hydrograph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1744" y="1005840"/>
            <a:ext cx="5508206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latin typeface="Times New Roman"/>
              </a:rPr>
              <a:t>Figure 3. Flood hydrograph comparison for the 2018 event under four scenarios: no measures (baseline), confluence relocation only, groundwater management only, and integrated measures. Upper panel shows the 72-hour rainfall hyetograph.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latin typeface="Times New Roman"/>
              </a:rPr>
              <a:t>Figure 4</a:t>
            </a:r>
          </a:p>
        </p:txBody>
      </p:sp>
      <p:pic>
        <p:nvPicPr>
          <p:cNvPr id="3" name="Picture 2" descr="fig4_scenario_comparison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005840"/>
            <a:ext cx="10058400" cy="4361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latin typeface="Times New Roman"/>
              </a:rPr>
              <a:t>Figure 4. Comparison of peak discharge and total runoff volume across four scenarios. Error bars indicate ±10% sensitivity range.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