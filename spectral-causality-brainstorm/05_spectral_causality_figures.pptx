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Spectral Causality</a:t>
            </a:r>
          </a:p>
          <a:p>
            <a:pPr algn="l">
              <a:defRPr sz="2400">
                <a:solidFill>
                  <a:srgbClr val="646464"/>
                </a:solidFill>
              </a:defRPr>
            </a:pPr>
            <a:r>
              <a:t>Finding Causal Relations Through the Science of Sound</a:t>
            </a:r>
          </a:p>
          <a:p>
            <a:pPr algn="l">
              <a:defRPr sz="1800">
                <a:solidFill>
                  <a:srgbClr val="787878"/>
                </a:solidFill>
              </a:defRPr>
            </a:pPr>
            <a:r>
              <a:t>UCI Heart Disease Data (n=297) — Real-World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Figure 1: Three Approaches to Causal Inference</a:t>
            </a:r>
          </a:p>
        </p:txBody>
      </p:sp>
      <p:pic>
        <p:nvPicPr>
          <p:cNvPr id="3" name="Picture 2" descr="fig1_three_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454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05050"/>
                </a:solidFill>
              </a:defRPr>
            </a:pPr>
            <a:r>
              <a:t>Figure 1: (A) Conventional approach — isolated variables. (B) LiNGAM — variable-level causal DAG. (C) Spectral Causality — theme-level causal flow. Vertical position represents causal potential: higher = more upstream (cause), lower = more downstream (effect).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Figure 2: Magnetic Laplacian Eigenvectors in the Complex Plane</a:t>
            </a:r>
          </a:p>
        </p:txBody>
      </p:sp>
      <p:pic>
        <p:nvPicPr>
          <p:cNvPr id="3" name="Picture 2" descr="fig2_magnetic_laplacian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3504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05050"/>
                </a:solidFill>
              </a:defRPr>
            </a:pPr>
            <a:r>
              <a:t>Figure 2: Second eigenvector of the magnetic Laplacian plotted on the complex plane. At q=0, all points lie on the real axis (no directionality). At q=0.1 and q=0.25, variables spread into the complex plane, with phase angle ordering encoding causal flow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Figure 3: Hodge Decomposition of Information Flow</a:t>
            </a:r>
          </a:p>
        </p:txBody>
      </p:sp>
      <p:pic>
        <p:nvPicPr>
          <p:cNvPr id="3" name="Picture 2" descr="fig3_hod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60" y="1188720"/>
            <a:ext cx="1009797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05050"/>
                </a:solidFill>
              </a:defRPr>
            </a:pPr>
            <a:r>
              <a:t>Figure 3: (A) Hodge decomposition of information flow: 85.9% gradient (causal, one-directional) vs 14.1% curl (feedback loops). (B) Causal potential for each variable. Age is most upstream; ST Depression is most downstream.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Figure 4: Causal Direction Comparison Across Three Methods</a:t>
            </a:r>
          </a:p>
        </p:txBody>
      </p:sp>
      <p:pic>
        <p:nvPicPr>
          <p:cNvPr id="3" name="Picture 2" descr="fig4_dir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832" y="1188720"/>
            <a:ext cx="8774031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05050"/>
                </a:solidFill>
              </a:defRPr>
            </a:pPr>
            <a:r>
              <a:t>Figure 4: Causal direction for all 10 variable pairs comparing LiNGAM (red), Spectral Causal Direction SCD (blue), and Hodge potential (green). +1 = first variable causes second; -1 = reverse. Green background = all three methods agree.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Figure 5: Hill's 9 Criteria Coverage by Method</a:t>
            </a:r>
          </a:p>
        </p:txBody>
      </p:sp>
      <p:pic>
        <p:nvPicPr>
          <p:cNvPr id="3" name="Picture 2" descr="fig5_hil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88720"/>
            <a:ext cx="10515600" cy="3793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05050"/>
                </a:solidFill>
              </a:defRPr>
            </a:pPr>
            <a:r>
              <a:t>Figure 5: Radar plots showing coverage of Hill's 9 causal criteria. LiNGAM excels at H1 (strength) and H3 (specificity) but lacks H6/H7/H9. Utility Causality covers H6 (plausibility), H7 (coherence), H9 (analogy). Ensemble (ECD) combines both, covering nearly all criteria.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