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1: Estimated Causal DAG (DirectLiNGAM)</a:t>
            </a:r>
          </a:p>
        </p:txBody>
      </p:sp>
      <p:pic>
        <p:nvPicPr>
          <p:cNvPr id="3" name="Picture 2" descr="fig6_causal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083" y="914400"/>
            <a:ext cx="434952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Causal DAG estimated by DirectLiNGAM on the UCI Heart Disease dataset (Cleveland subset, n = 297). Five clinical variables. Blue = positive effect; red = negative effect. Causal order: Age &gt; MaxHR &gt; STDep &gt; RestBP &gt; Chol.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2: Hill's 9 Criteria Coverage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628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Radar chart of each method's coverage of Hill's nine criteria. LiNGAM: H1/H3. Utility Causality: H6/H7/H9. ECD Ensemble: nearly all criteria.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3: Magnetic Laplacian Eigenvectors</a:t>
            </a:r>
          </a:p>
        </p:txBody>
      </p:sp>
      <p:pic>
        <p:nvPicPr>
          <p:cNvPr id="3" name="Picture 2" descr="fig2_magnetic_laplacian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2048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Second eigenvector of the magnetic Laplacian on the complex plane. q=0: all points on real axis. q=0.25: phase angle ordering encodes causal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4: Hodge Decomposition of Causal Flows</a:t>
            </a:r>
          </a:p>
        </p:txBody>
      </p:sp>
      <p:pic>
        <p:nvPicPr>
          <p:cNvPr id="3" name="Picture 2" descr="fig3_hod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71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Orthogonal decomposition into gradient (DAG-like, 85.9%), curl (feedback, 14.1%), and harmonic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5: Three-Method Direction Comparison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47" y="914400"/>
            <a:ext cx="950520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Causal directions: LiNGAM vs. spectral causality (alpha=0.6) vs. DPI (alpha=0). 5 variables, 10 possible edges. 67% agreement between DPI and LiNGAM.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6: LiNGAM DAG vs. Spectral Causality DCG</a:t>
            </a:r>
          </a:p>
        </p:txBody>
      </p:sp>
      <p:pic>
        <p:nvPicPr>
          <p:cNvPr id="3" name="Picture 2" descr="fig7_lingam_v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75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LiNGAM enforces DAG (acyclic). Spectral causality permits feedback loops. Edge feedback rates quantified by Hodge decomposition.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7: ECD Ensemble &amp; Pruning Analysis</a:t>
            </a:r>
          </a:p>
        </p:txBody>
      </p:sp>
      <p:pic>
        <p:nvPicPr>
          <p:cNvPr id="3" name="Picture 2" descr="fig9_ecd_pr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943" y="914400"/>
            <a:ext cx="533580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(A) Hodge decomposition. (B) Causal potential vs. interventionability. (C) Edge-level feedback rates. (D) p_flip U-shaped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Figure 8: Alpha-Sweep DAG Transition Analysis</a:t>
            </a:r>
          </a:p>
        </p:txBody>
      </p:sp>
      <p:pic>
        <p:nvPicPr>
          <p:cNvPr id="3" name="Picture 2" descr="fig8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5" y="914400"/>
            <a:ext cx="643662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05050"/>
                </a:solidFill>
              </a:defRPr>
            </a:pPr>
            <a:r>
              <a:t>(A) r_gradient: 0.581 (alpha=0) to 0.859 (alpha=1.0), smooth transition with DPI. (B) Edge count &amp; LiNGAM agreement. (C) Asymmetric norm. (D) Phase diagram.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