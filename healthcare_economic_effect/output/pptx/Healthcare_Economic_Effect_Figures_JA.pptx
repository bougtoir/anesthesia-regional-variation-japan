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図1. 各国の医療セクターI-O乗数の比較</a:t>
            </a:r>
          </a:p>
        </p:txBody>
      </p:sp>
      <p:pic>
        <p:nvPicPr>
          <p:cNvPr id="3" name="Picture 2" descr="fig1_io_multipl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各国の医療支出の産業連関乗数。日本は2.78倍で比較対象国中最大。出典: Yamada &amp; Imanaka 2015, Gutierrez-Hernandez 2021他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図2. テンポ効果の三層構造 — 人口→GDP→医療への移植</a:t>
            </a:r>
          </a:p>
        </p:txBody>
      </p:sp>
      <p:pic>
        <p:nvPicPr>
          <p:cNvPr id="3" name="Picture 2" descr="fig5_three_layer_analogy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Bongaarts-Feeneyのテンポ効果を資本会計・医療に三層的に移植。医療のテンポドリフト（+0.15年/年）はGDP（+0.04年/年）の約4倍。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図3. 二重リターン・フレームワーク概念図</a:t>
            </a:r>
          </a:p>
        </p:txBody>
      </p:sp>
      <p:pic>
        <p:nvPicPr>
          <p:cNvPr id="3" name="Picture 2" descr="fig4_dual_return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医療支出は需要側（I-O乗数）と供給側（健康資本テンポ効果）の二つの経路で経済にリターンをもたらす。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図4. 各国の医療支出財政回収率（τ·m / pf）</a:t>
            </a:r>
          </a:p>
        </p:txBody>
      </p:sp>
      <p:pic>
        <p:nvPicPr>
          <p:cNvPr id="3" name="Picture 2" descr="fig3_fiscal_sustain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財政回収率 = (実効税率 × I-O乗数) / 公的負担割合。1.0以上は税収還流が公的支出を上回ることを意味する。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図5. 医療支出（対GDP%）と平均寿命（OECD, 2019年）</a:t>
            </a:r>
          </a:p>
        </p:txBody>
      </p:sp>
      <p:pic>
        <p:nvPicPr>
          <p:cNvPr id="3" name="Picture 2" descr="fig2_che_vs_lifeex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横軸: 対GDP医療支出割合(%), 縦軸: 出生時平均寿命(年). 米国を除く線形フィット。米国は外れ値として別表示。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図6. 画像診断装置密度（CT+MRI、人口100万人あたり、OECD 2021年）</a:t>
            </a:r>
          </a:p>
        </p:txBody>
      </p:sp>
      <p:pic>
        <p:nvPicPr>
          <p:cNvPr id="3" name="Picture 2" descr="fig6_equipment_density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CT+MRI合計の人口100万人あたり台数。日本（赤）は170.9台/百万人でOECD中央値の約4倍。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図7. 医療関連輸入漏出率（%CHE）と実効I-O乗数の関係</a:t>
            </a:r>
          </a:p>
        </p:txBody>
      </p:sp>
      <p:pic>
        <p:nvPicPr>
          <p:cNvPr id="3" name="Picture 2" descr="fig7_import_leakage_multiplier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輸入漏出が実効乗数を低下させる。灰色×は名目乗数。赤矢印は日本の漏出調整効果。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図8. 日本のカウンターファクチュアル分析</a:t>
            </a:r>
          </a:p>
        </p:txBody>
      </p:sp>
      <p:pic>
        <p:nvPicPr>
          <p:cNvPr id="3" name="Picture 2" descr="fig8_counterfactual_japan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ベースライン（1.04）、A: OECD平均装置密度（0.98）、B: 国内製造（1.09）、C: A+B（1.03）。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