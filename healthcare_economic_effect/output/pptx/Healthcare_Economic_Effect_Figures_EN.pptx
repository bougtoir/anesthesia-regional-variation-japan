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Figure 1. Healthcare I-O Multipliers by Country</a:t>
            </a:r>
          </a:p>
        </p:txBody>
      </p:sp>
      <p:pic>
        <p:nvPicPr>
          <p:cNvPr id="3" name="Picture 2" descr="fig1_io_multipl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Healthcare sector input-output multipliers. Japan leads at 2.78x. Sources: Yamada &amp; Imanaka 2015, Gutierrez-Hernandez 2021, et 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Figure 2. Three-Layer Tempo Analogy: Population -&gt; GDP -&gt; Healthcare</a:t>
            </a:r>
          </a:p>
        </p:txBody>
      </p:sp>
      <p:pic>
        <p:nvPicPr>
          <p:cNvPr id="3" name="Picture 2" descr="fig5_three_layer_an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The Bongaarts-Feeney tempo framework ported across three domains. Healthcare shows the largest tempo drift (+0.15 yr/yr vs GDP +0.04).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Figure 3. Dual-Return Framework for Neutral Sustainability</a:t>
            </a:r>
          </a:p>
        </p:txBody>
      </p:sp>
      <p:pic>
        <p:nvPicPr>
          <p:cNvPr id="3" name="Picture 2" descr="fig4_dual_return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Healthcare spending generates returns through two channels: demand-side (I-O multiplier) and supply-side (health-capital tempo effect).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Figure 4. Fiscal Return Ratio of Healthcare Spending</a:t>
            </a:r>
          </a:p>
        </p:txBody>
      </p:sp>
      <p:pic>
        <p:nvPicPr>
          <p:cNvPr id="3" name="Picture 2" descr="fig3_fiscal_sustain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Fiscal Return Ratio = (Effective tax rate x I-O multiplier) / Public share. Values &gt;= 1.0 indicate fiscal self-sustainability.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Figure 5. Healthcare Spending (% GDP) vs Life Expectancy (OECD, 2019)</a:t>
            </a:r>
          </a:p>
        </p:txBody>
      </p:sp>
      <p:pic>
        <p:nvPicPr>
          <p:cNvPr id="3" name="Picture 2" descr="fig2_che_vs_lifeex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X-axis: CHE as % of GDP. Y-axis: Life expectancy at birth (years). Linear fit excludes US (outlier shown in red). F-test results in figure.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Figure 6. Diagnostic Imaging Equipment Density (CT+MRI, OECD 2021)</a:t>
            </a:r>
          </a:p>
        </p:txBody>
      </p:sp>
      <p:pic>
        <p:nvPicPr>
          <p:cNvPr id="3" name="Picture 2" descr="fig6_equipment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Combined CT and MRI scanners per million population. Japan (red) at 170.9 is approximately 4x the OECD median.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Figure 7. Medical Import Leakage vs Effective I-O Multiplier</a:t>
            </a:r>
          </a:p>
        </p:txBody>
      </p:sp>
      <p:pic>
        <p:nvPicPr>
          <p:cNvPr id="3" name="Picture 2" descr="fig7_import_leakage_multipl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Import leakage reduces the effective I-O multiplier. Gray x = nominal multiplier. Red arrow = Japan's leakage adjustment.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Figure 8. Japan Counterfactual Sustainability Scenarios</a:t>
            </a:r>
          </a:p>
        </p:txBody>
      </p:sp>
      <p:pic>
        <p:nvPicPr>
          <p:cNvPr id="3" name="Picture 2" descr="fig8_counterfactual_jap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Baseline (1.04), A: OECD-avg equipment (0.98), B: Domestic manufacturing (1.09), C: Both (1.03).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